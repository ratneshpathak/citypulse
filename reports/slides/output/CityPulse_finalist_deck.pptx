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aed8ada4f34b74" /><Relationship Type="http://schemas.openxmlformats.org/officeDocument/2006/relationships/extended-properties" Target="/docProps/app.xml" Id="Rd31c827484e8460d" /><Relationship Type="http://schemas.openxmlformats.org/officeDocument/2006/relationships/officeDocument" Target="/ppt/presentation.xml" Id="Ra7fe604d75d147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04a23cacad406d"/>
  </p:sldMasterIdLst>
  <p:notesMasterIdLst>
    <p:notesMasterId xmlns:r="http://schemas.openxmlformats.org/officeDocument/2006/relationships" r:id="R7591206ca98d4691"/>
  </p:notesMasterIdLst>
  <p:sldIdLst>
    <p:sldId xmlns:r="http://schemas.openxmlformats.org/officeDocument/2006/relationships" id="256" r:id="R5abd15568ba44867"/>
    <p:sldId xmlns:r="http://schemas.openxmlformats.org/officeDocument/2006/relationships" id="257" r:id="R8e20c892e37c4648"/>
    <p:sldId xmlns:r="http://schemas.openxmlformats.org/officeDocument/2006/relationships" id="258" r:id="R4b63ec62f18944c4"/>
    <p:sldId xmlns:r="http://schemas.openxmlformats.org/officeDocument/2006/relationships" id="259" r:id="R92e7fe7a5d254397"/>
    <p:sldId xmlns:r="http://schemas.openxmlformats.org/officeDocument/2006/relationships" id="260" r:id="R2b5217a3054c4532"/>
    <p:sldId xmlns:r="http://schemas.openxmlformats.org/officeDocument/2006/relationships" id="261" r:id="R646ae99e9e904a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16c90d3dc84a26" /><Relationship Type="http://schemas.openxmlformats.org/officeDocument/2006/relationships/slideMaster" Target="/ppt/slideMasters/slideMaster1.xml" Id="R6804a23cacad406d" /><Relationship Type="http://schemas.openxmlformats.org/officeDocument/2006/relationships/notesMaster" Target="/ppt/notesMasters/notesMaster1.xml" Id="R7591206ca98d4691" /><Relationship Type="http://schemas.openxmlformats.org/officeDocument/2006/relationships/presProps" Target="/ppt/presProps.xml" Id="R57e6362c4cbb40cd" /><Relationship Type="http://schemas.openxmlformats.org/officeDocument/2006/relationships/tableStyles" Target="/ppt/tableStyles.xml" Id="R7b99b9230b6d43af" /><Relationship Type="http://schemas.openxmlformats.org/officeDocument/2006/relationships/slide" Target="/ppt/slides/slide1.xml" Id="R5abd15568ba44867" /><Relationship Type="http://schemas.openxmlformats.org/officeDocument/2006/relationships/slide" Target="/ppt/slides/slide2.xml" Id="R8e20c892e37c4648" /><Relationship Type="http://schemas.openxmlformats.org/officeDocument/2006/relationships/slide" Target="/ppt/slides/slide3.xml" Id="R4b63ec62f18944c4" /><Relationship Type="http://schemas.openxmlformats.org/officeDocument/2006/relationships/slide" Target="/ppt/slides/slide4.xml" Id="R92e7fe7a5d254397" /><Relationship Type="http://schemas.openxmlformats.org/officeDocument/2006/relationships/slide" Target="/ppt/slides/slide5.xml" Id="R2b5217a3054c4532" /><Relationship Type="http://schemas.openxmlformats.org/officeDocument/2006/relationships/slide" Target="/ppt/slides/slide6.xml" Id="R646ae99e9e904a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452103be90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d432307e354bf4" /><Relationship Type="http://schemas.openxmlformats.org/officeDocument/2006/relationships/notesMaster" Target="/ppt/notesMasters/notesMaster1.xml" Id="R44626232971340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441cef571140ce" /><Relationship Type="http://schemas.openxmlformats.org/officeDocument/2006/relationships/notesMaster" Target="/ppt/notesMasters/notesMaster1.xml" Id="Rf08d4bc4bffa4c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b993b004724007" /><Relationship Type="http://schemas.openxmlformats.org/officeDocument/2006/relationships/notesMaster" Target="/ppt/notesMasters/notesMaster1.xml" Id="R9d6338e2943644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0b084febbd40be" /><Relationship Type="http://schemas.openxmlformats.org/officeDocument/2006/relationships/notesMaster" Target="/ppt/notesMasters/notesMaster1.xml" Id="Rbe4bb482e62b48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5767644f254f6e" /><Relationship Type="http://schemas.openxmlformats.org/officeDocument/2006/relationships/notesMaster" Target="/ppt/notesMasters/notesMaster1.xml" Id="R98a2c961d85b42f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cdb2cbd1474cb5" /><Relationship Type="http://schemas.openxmlformats.org/officeDocument/2006/relationships/notesMaster" Target="/ppt/notesMasters/notesMaster1.xml" Id="R3870505fe2884b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statement: HackAMatch CityPulse, pages 1–2 and 8. The prototype is an offline historical replay.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CityPulse brief asks for a focused urban issue, a named user, evidence, uncertainty and a practical action. Source: HackAMatch CityPulse problem statement, pages 2 and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Means computed from bundled data/processed/mumbai_aqi_daily_clean.parquet using is_cpcb_valid = 1. Source: reports/eda_findings.md. These are pooled station-day means; coverage differs by station and season.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 2021–2022; test 2023. MAE values and classifier metrics from reports/evaluation_metrics.json. The gradient boosting point model does not beat persistence. The classifier is not separately calibrated.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demo: open app; read historical replay banner; set capacity to five; select Chembur; inspect rank, prior-day AQI, risk estimate and action; adjust policy weights; show holdout diagnostics. Source: app.py and DEMO_SCRIPT.md.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DATA_STATEMENT.md, DATA_SOURCES.md, reports/EVALUATION.md. The core uses bundled 2021–2023 data. The later four-station pollutant notebook lacks bundled raw Excel exports. Mirror licence and redistribution terms require verification before public submission.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8848c8cbe4b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cd042f958e4e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96b05f2bf844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ca4b5e48514c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ff613904024e1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2152ee18d744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D41BE0-AA36-45E9-85AE-0C54AEC1FA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6810EF5-962D-43E7-9231-FDD3972294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B99775B-76A3-4A77-A593-F973213D1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09275A-CF0B-4AC5-BB3F-F27ACE449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D3F80B8-6C2A-4DB7-A6CA-61BB13CCA1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B550242-A86A-434C-AEC6-E43AF3C2E8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024199-BD55-4F20-8995-DF2C5A4248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3593871-FD43-4739-AD89-6D6442346B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E7831DB-6753-42BF-945C-3E37BD7290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57EC1A-9C6E-451B-8EED-4D1B36D216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a7009cb7684de0" /><Relationship Type="http://schemas.openxmlformats.org/officeDocument/2006/relationships/slideLayout" Target="/ppt/slideLayouts/slideLayout1.xml" Id="R4bf0485071324d8c" /><Relationship Type="http://schemas.openxmlformats.org/officeDocument/2006/relationships/slideLayout" Target="/ppt/slideLayouts/slideLayout2.xml" Id="R5d863f44075e458e" /><Relationship Type="http://schemas.openxmlformats.org/officeDocument/2006/relationships/slideLayout" Target="/ppt/slideLayouts/slideLayout3.xml" Id="Rfbd3143ca47c42be" /><Relationship Type="http://schemas.openxmlformats.org/officeDocument/2006/relationships/slideLayout" Target="/ppt/slideLayouts/slideLayout4.xml" Id="R069271cf27bc48af" /><Relationship Type="http://schemas.openxmlformats.org/officeDocument/2006/relationships/slideLayout" Target="/ppt/slideLayouts/slideLayout5.xml" Id="R39b28e4af8594e18" /><Relationship Type="http://schemas.openxmlformats.org/officeDocument/2006/relationships/slideLayout" Target="/ppt/slideLayouts/slideLayout6.xml" Id="Rc375080b7fd54d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f0485071324d8c"/>
    <p:sldLayoutId xmlns:r="http://schemas.openxmlformats.org/officeDocument/2006/relationships" id="2147483650" r:id="R5d863f44075e458e"/>
    <p:sldLayoutId xmlns:r="http://schemas.openxmlformats.org/officeDocument/2006/relationships" id="2147483651" r:id="Rfbd3143ca47c42be"/>
    <p:sldLayoutId xmlns:r="http://schemas.openxmlformats.org/officeDocument/2006/relationships" id="2147483652" r:id="R069271cf27bc48af"/>
    <p:sldLayoutId xmlns:r="http://schemas.openxmlformats.org/officeDocument/2006/relationships" id="2147483653" r:id="R39b28e4af8594e18"/>
    <p:sldLayoutId xmlns:r="http://schemas.openxmlformats.org/officeDocument/2006/relationships" id="2147483654" r:id="Rc375080b7fd54d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f922af0df642f5" /><Relationship Type="http://schemas.openxmlformats.org/officeDocument/2006/relationships/notesSlide" Target="/ppt/notesSlides/notesSlide1.xml" Id="Rf6aff9703e9847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a88dcc76ab4f27" /><Relationship Type="http://schemas.openxmlformats.org/officeDocument/2006/relationships/notesSlide" Target="/ppt/notesSlides/notesSlide2.xml" Id="R1befcb92e7e84a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111aaf24a84793" /><Relationship Type="http://schemas.openxmlformats.org/officeDocument/2006/relationships/chart" Target="/ppt/slides/charts/chart1.xml" Id="R9a811c67268941a0" /><Relationship Type="http://schemas.openxmlformats.org/officeDocument/2006/relationships/notesSlide" Target="/ppt/notesSlides/notesSlide3.xml" Id="R1d03ba35680b42a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d4f2303b9d4d43" /><Relationship Type="http://schemas.openxmlformats.org/officeDocument/2006/relationships/chart" Target="/ppt/slides/charts/chart2.xml" Id="Rb82bdb2cc4cc41d2" /><Relationship Type="http://schemas.openxmlformats.org/officeDocument/2006/relationships/notesSlide" Target="/ppt/notesSlides/notesSlide4.xml" Id="Reb2831ad04f946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0d8f8495f74505" /><Relationship Type="http://schemas.openxmlformats.org/officeDocument/2006/relationships/notesSlide" Target="/ppt/notesSlides/notesSlide5.xml" Id="R18026caf735d4c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077ae69f92402c" /><Relationship Type="http://schemas.openxmlformats.org/officeDocument/2006/relationships/notesSlide" Target="/ppt/notesSlides/notesSlide6.xml" Id="Rc0fbc16a24e646a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Mean AQI</c:v>
          </c:tx>
          <c:spPr>
            <a:solidFill xmlns:a="http://schemas.openxmlformats.org/drawingml/2006/main">
              <a:srgbClr val="4F8CFF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Monsoon (Jun–Sep)</c:v>
                </c:pt>
                <c:pt idx="1">
                  <c:v>Winter (Dec–Feb)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63.9</c:v>
                </c:pt>
                <c:pt idx="1">
                  <c:v>185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E6EDF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8B8D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1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4324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8B8D0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2023 MAE</c:v>
          </c:tx>
          <c:spPr>
            <a:solidFill xmlns:a="http://schemas.openxmlformats.org/drawingml/2006/main">
              <a:srgbClr val="4F8CFF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Persistence</c:v>
                </c:pt>
                <c:pt idx="1">
                  <c:v>Ridge</c:v>
                </c:pt>
                <c:pt idx="2">
                  <c:v>Gradient boosting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19.42</c:v>
                </c:pt>
                <c:pt idx="1">
                  <c:v>19.46</c:v>
                </c:pt>
                <c:pt idx="2">
                  <c:v>20.33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 b="1">
                  <a:solidFill>
                    <a:srgbClr val="E6EDF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8B8D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4324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8B8D0"/>
                </a:solidFill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A015F-B88B-41A4-A968-90ABF760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43000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725" b="1">
                <a:solidFill>
                  <a:srgbClr val="E6EDF7"/>
                </a:solidFill>
              </a:defRPr>
            </a:defPPr>
            <a:lvl1pPr>
              <a:defRPr sz="4725" b="1">
                <a:solidFill>
                  <a:srgbClr val="E6EDF7"/>
                </a:solidFill>
              </a:defRPr>
            </a:lvl1pPr>
            <a:lvl2pPr>
              <a:defRPr sz="4725" b="1">
                <a:solidFill>
                  <a:srgbClr val="E6EDF7"/>
                </a:solidFill>
              </a:defRPr>
            </a:lvl2pPr>
            <a:lvl3pPr>
              <a:defRPr sz="4725" b="1">
                <a:solidFill>
                  <a:srgbClr val="E6EDF7"/>
                </a:solidFill>
              </a:defRPr>
            </a:lvl3pPr>
            <a:lvl4pPr>
              <a:defRPr sz="4725" b="1">
                <a:solidFill>
                  <a:srgbClr val="E6EDF7"/>
                </a:solidFill>
              </a:defRPr>
            </a:lvl4pPr>
            <a:lvl5pPr>
              <a:defRPr sz="4725" b="1">
                <a:solidFill>
                  <a:srgbClr val="E6EDF7"/>
                </a:solidFill>
              </a:defRPr>
            </a:lvl5pPr>
            <a:lvl6pPr>
              <a:defRPr sz="4725" b="1">
                <a:solidFill>
                  <a:srgbClr val="E6EDF7"/>
                </a:solidFill>
              </a:defRPr>
            </a:lvl6pPr>
            <a:lvl7pPr>
              <a:defRPr sz="4725" b="1">
                <a:solidFill>
                  <a:srgbClr val="E6EDF7"/>
                </a:solidFill>
              </a:defRPr>
            </a:lvl7pPr>
            <a:lvl8pPr>
              <a:defRPr sz="4725" b="1">
                <a:solidFill>
                  <a:srgbClr val="E6EDF7"/>
                </a:solidFill>
              </a:defRPr>
            </a:lvl8pPr>
            <a:lvl9pPr>
              <a:defRPr sz="472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4725" b="1">
                <a:solidFill>
                  <a:srgbClr val="E6EDF7"/>
                </a:solidFill>
              </a:defRPr>
            </a:pPr>
            <a:r>
              <a:rPr sz="4725" b="1">
                <a:solidFill>
                  <a:srgbClr val="E6EDF7"/>
                </a:solidFill>
              </a:rPr>
              <a:t>CityPulse: Mumbai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5488C-4656-457E-8595-191D9721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4F8CFF"/>
                </a:solidFill>
              </a:defRPr>
            </a:defPPr>
            <a:lvl1pPr>
              <a:defRPr sz="2250" b="0">
                <a:solidFill>
                  <a:srgbClr val="4F8CFF"/>
                </a:solidFill>
              </a:defRPr>
            </a:lvl1pPr>
            <a:lvl2pPr>
              <a:defRPr sz="2250" b="0">
                <a:solidFill>
                  <a:srgbClr val="4F8CFF"/>
                </a:solidFill>
              </a:defRPr>
            </a:lvl2pPr>
            <a:lvl3pPr>
              <a:defRPr sz="2250" b="0">
                <a:solidFill>
                  <a:srgbClr val="4F8CFF"/>
                </a:solidFill>
              </a:defRPr>
            </a:lvl3pPr>
            <a:lvl4pPr>
              <a:defRPr sz="2250" b="0">
                <a:solidFill>
                  <a:srgbClr val="4F8CFF"/>
                </a:solidFill>
              </a:defRPr>
            </a:lvl4pPr>
            <a:lvl5pPr>
              <a:defRPr sz="2250" b="0">
                <a:solidFill>
                  <a:srgbClr val="4F8CFF"/>
                </a:solidFill>
              </a:defRPr>
            </a:lvl5pPr>
            <a:lvl6pPr>
              <a:defRPr sz="2250" b="0">
                <a:solidFill>
                  <a:srgbClr val="4F8CFF"/>
                </a:solidFill>
              </a:defRPr>
            </a:lvl6pPr>
            <a:lvl7pPr>
              <a:defRPr sz="2250" b="0">
                <a:solidFill>
                  <a:srgbClr val="4F8CFF"/>
                </a:solidFill>
              </a:defRPr>
            </a:lvl7pPr>
            <a:lvl8pPr>
              <a:defRPr sz="2250" b="0">
                <a:solidFill>
                  <a:srgbClr val="4F8CFF"/>
                </a:solidFill>
              </a:defRPr>
            </a:lvl8pPr>
            <a:lvl9pPr>
              <a:defRPr sz="2250" b="0">
                <a:solidFill>
                  <a:srgbClr val="4F8CFF"/>
                </a:solidFill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4F8CFF"/>
                </a:solidFill>
              </a:defRPr>
            </a:pPr>
            <a:r>
              <a:rPr sz="2250" b="0">
                <a:solidFill>
                  <a:srgbClr val="4F8CFF"/>
                </a:solidFill>
              </a:rPr>
              <a:t>Air-quality decisions with visible evidence and limits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F44BCE-5BAB-42C5-8C1B-5E2EE112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A8B8D0"/>
                </a:solidFill>
              </a:defRPr>
            </a:defPPr>
            <a:lvl1pPr>
              <a:defRPr sz="1650" b="0">
                <a:solidFill>
                  <a:srgbClr val="A8B8D0"/>
                </a:solidFill>
              </a:defRPr>
            </a:lvl1pPr>
            <a:lvl2pPr>
              <a:defRPr sz="1650" b="0">
                <a:solidFill>
                  <a:srgbClr val="A8B8D0"/>
                </a:solidFill>
              </a:defRPr>
            </a:lvl2pPr>
            <a:lvl3pPr>
              <a:defRPr sz="1650" b="0">
                <a:solidFill>
                  <a:srgbClr val="A8B8D0"/>
                </a:solidFill>
              </a:defRPr>
            </a:lvl3pPr>
            <a:lvl4pPr>
              <a:defRPr sz="1650" b="0">
                <a:solidFill>
                  <a:srgbClr val="A8B8D0"/>
                </a:solidFill>
              </a:defRPr>
            </a:lvl4pPr>
            <a:lvl5pPr>
              <a:defRPr sz="1650" b="0">
                <a:solidFill>
                  <a:srgbClr val="A8B8D0"/>
                </a:solidFill>
              </a:defRPr>
            </a:lvl5pPr>
            <a:lvl6pPr>
              <a:defRPr sz="1650" b="0">
                <a:solidFill>
                  <a:srgbClr val="A8B8D0"/>
                </a:solidFill>
              </a:defRPr>
            </a:lvl6pPr>
            <a:lvl7pPr>
              <a:defRPr sz="1650" b="0">
                <a:solidFill>
                  <a:srgbClr val="A8B8D0"/>
                </a:solidFill>
              </a:defRPr>
            </a:lvl7pPr>
            <a:lvl8pPr>
              <a:defRPr sz="1650" b="0">
                <a:solidFill>
                  <a:srgbClr val="A8B8D0"/>
                </a:solidFill>
              </a:defRPr>
            </a:lvl8pPr>
            <a:lvl9pPr>
              <a:defRPr sz="1650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A8B8D0"/>
                </a:solidFill>
              </a:defRPr>
            </a:pPr>
            <a:r>
              <a:rPr sz="1650" b="0">
                <a:solidFill>
                  <a:srgbClr val="A8B8D0"/>
                </a:solidFill>
              </a:rPr>
              <a:t>HackAMatch 1.0  |  Ratnesh, Rishi &amp; Shreya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8B6C9-2C44-49FA-A770-981E2041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5C542"/>
                </a:solidFill>
              </a:defRPr>
            </a:defPPr>
            <a:lvl1pPr>
              <a:defRPr sz="1500" b="0">
                <a:solidFill>
                  <a:srgbClr val="F5C542"/>
                </a:solidFill>
              </a:defRPr>
            </a:lvl1pPr>
            <a:lvl2pPr>
              <a:defRPr sz="1500" b="0">
                <a:solidFill>
                  <a:srgbClr val="F5C542"/>
                </a:solidFill>
              </a:defRPr>
            </a:lvl2pPr>
            <a:lvl3pPr>
              <a:defRPr sz="1500" b="0">
                <a:solidFill>
                  <a:srgbClr val="F5C542"/>
                </a:solidFill>
              </a:defRPr>
            </a:lvl3pPr>
            <a:lvl4pPr>
              <a:defRPr sz="1500" b="0">
                <a:solidFill>
                  <a:srgbClr val="F5C542"/>
                </a:solidFill>
              </a:defRPr>
            </a:lvl4pPr>
            <a:lvl5pPr>
              <a:defRPr sz="1500" b="0">
                <a:solidFill>
                  <a:srgbClr val="F5C542"/>
                </a:solidFill>
              </a:defRPr>
            </a:lvl5pPr>
            <a:lvl6pPr>
              <a:defRPr sz="1500" b="0">
                <a:solidFill>
                  <a:srgbClr val="F5C542"/>
                </a:solidFill>
              </a:defRPr>
            </a:lvl6pPr>
            <a:lvl7pPr>
              <a:defRPr sz="1500" b="0">
                <a:solidFill>
                  <a:srgbClr val="F5C542"/>
                </a:solidFill>
              </a:defRPr>
            </a:lvl7pPr>
            <a:lvl8pPr>
              <a:defRPr sz="1500" b="0">
                <a:solidFill>
                  <a:srgbClr val="F5C542"/>
                </a:solidFill>
              </a:defRPr>
            </a:lvl8pPr>
            <a:lvl9pPr>
              <a:defRPr sz="1500" b="0">
                <a:solidFill>
                  <a:srgbClr val="F5C54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5C542"/>
                </a:solidFill>
              </a:defRPr>
            </a:pPr>
            <a:r>
              <a:rPr sz="1500" b="0">
                <a:solidFill>
                  <a:srgbClr val="F5C542"/>
                </a:solidFill>
              </a:rPr>
              <a:t>Offline 2023 decision replay · Not a live warning system</a:t>
            </a:r>
          </a:p>
        </p:txBody>
      </p:sp>
    </p:spTree>
    <p:extLst>
      <p:ext uri="{BB962C8B-B14F-4D97-AF65-F5344CB8AC3E}">
        <p14:creationId xmlns:p14="http://schemas.microsoft.com/office/powerpoint/2010/main" val="338402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A9911-61EB-49D8-93BA-8F896ABC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E6EDF7"/>
                </a:solidFill>
              </a:defRPr>
            </a:defPPr>
            <a:lvl1pPr>
              <a:defRPr sz="2775" b="1">
                <a:solidFill>
                  <a:srgbClr val="E6EDF7"/>
                </a:solidFill>
              </a:defRPr>
            </a:lvl1pPr>
            <a:lvl2pPr>
              <a:defRPr sz="2775" b="1">
                <a:solidFill>
                  <a:srgbClr val="E6EDF7"/>
                </a:solidFill>
              </a:defRPr>
            </a:lvl2pPr>
            <a:lvl3pPr>
              <a:defRPr sz="2775" b="1">
                <a:solidFill>
                  <a:srgbClr val="E6EDF7"/>
                </a:solidFill>
              </a:defRPr>
            </a:lvl3pPr>
            <a:lvl4pPr>
              <a:defRPr sz="2775" b="1">
                <a:solidFill>
                  <a:srgbClr val="E6EDF7"/>
                </a:solidFill>
              </a:defRPr>
            </a:lvl4pPr>
            <a:lvl5pPr>
              <a:defRPr sz="2775" b="1">
                <a:solidFill>
                  <a:srgbClr val="E6EDF7"/>
                </a:solidFill>
              </a:defRPr>
            </a:lvl5pPr>
            <a:lvl6pPr>
              <a:defRPr sz="2775" b="1">
                <a:solidFill>
                  <a:srgbClr val="E6EDF7"/>
                </a:solidFill>
              </a:defRPr>
            </a:lvl6pPr>
            <a:lvl7pPr>
              <a:defRPr sz="2775" b="1">
                <a:solidFill>
                  <a:srgbClr val="E6EDF7"/>
                </a:solidFill>
              </a:defRPr>
            </a:lvl7pPr>
            <a:lvl8pPr>
              <a:defRPr sz="2775" b="1">
                <a:solidFill>
                  <a:srgbClr val="E6EDF7"/>
                </a:solidFill>
              </a:defRPr>
            </a:lvl8pPr>
            <a:lvl9pPr>
              <a:defRPr sz="27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E6EDF7"/>
                </a:solidFill>
              </a:defRPr>
            </a:pPr>
            <a:r>
              <a:rPr sz="2775" b="1">
                <a:solidFill>
                  <a:srgbClr val="E6EDF7"/>
                </a:solidFill>
              </a:rPr>
              <a:t>A decision with limited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6D0EF-A5CD-4B25-8FD8-C2AB770C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CityPulse · HackAMatch 1.0 · Historical replay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76B4E-3C1F-4C6D-BCFF-76C36E35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3055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D38D9-224C-4128-894E-BC8834FC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10477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E6EDF7"/>
                </a:solidFill>
              </a:defRPr>
            </a:defPPr>
            <a:lvl1pPr>
              <a:defRPr sz="2625" b="1">
                <a:solidFill>
                  <a:srgbClr val="E6EDF7"/>
                </a:solidFill>
              </a:defRPr>
            </a:lvl1pPr>
            <a:lvl2pPr>
              <a:defRPr sz="2625" b="1">
                <a:solidFill>
                  <a:srgbClr val="E6EDF7"/>
                </a:solidFill>
              </a:defRPr>
            </a:lvl2pPr>
            <a:lvl3pPr>
              <a:defRPr sz="2625" b="1">
                <a:solidFill>
                  <a:srgbClr val="E6EDF7"/>
                </a:solidFill>
              </a:defRPr>
            </a:lvl3pPr>
            <a:lvl4pPr>
              <a:defRPr sz="2625" b="1">
                <a:solidFill>
                  <a:srgbClr val="E6EDF7"/>
                </a:solidFill>
              </a:defRPr>
            </a:lvl4pPr>
            <a:lvl5pPr>
              <a:defRPr sz="2625" b="1">
                <a:solidFill>
                  <a:srgbClr val="E6EDF7"/>
                </a:solidFill>
              </a:defRPr>
            </a:lvl5pPr>
            <a:lvl6pPr>
              <a:defRPr sz="2625" b="1">
                <a:solidFill>
                  <a:srgbClr val="E6EDF7"/>
                </a:solidFill>
              </a:defRPr>
            </a:lvl6pPr>
            <a:lvl7pPr>
              <a:defRPr sz="2625" b="1">
                <a:solidFill>
                  <a:srgbClr val="E6EDF7"/>
                </a:solidFill>
              </a:defRPr>
            </a:lvl7pPr>
            <a:lvl8pPr>
              <a:defRPr sz="2625" b="1">
                <a:solidFill>
                  <a:srgbClr val="E6EDF7"/>
                </a:solidFill>
              </a:defRPr>
            </a:lvl8pPr>
            <a:lvl9pPr>
              <a:defRPr sz="262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E6EDF7"/>
                </a:solidFill>
              </a:defRPr>
            </a:pPr>
            <a:r>
              <a:rPr sz="2625" b="1">
                <a:solidFill>
                  <a:srgbClr val="E6EDF7"/>
                </a:solidFill>
              </a:rPr>
              <a:t>A municipal officer can inspect five zones this week.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8E480A-C0A4-456B-8E99-CE1D168B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1000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A8B8D0"/>
                </a:solidFill>
              </a:defRPr>
            </a:defPPr>
            <a:lvl1pPr>
              <a:defRPr sz="1875" b="0">
                <a:solidFill>
                  <a:srgbClr val="A8B8D0"/>
                </a:solidFill>
              </a:defRPr>
            </a:lvl1pPr>
            <a:lvl2pPr>
              <a:defRPr sz="1875" b="0">
                <a:solidFill>
                  <a:srgbClr val="A8B8D0"/>
                </a:solidFill>
              </a:defRPr>
            </a:lvl2pPr>
            <a:lvl3pPr>
              <a:defRPr sz="1875" b="0">
                <a:solidFill>
                  <a:srgbClr val="A8B8D0"/>
                </a:solidFill>
              </a:defRPr>
            </a:lvl3pPr>
            <a:lvl4pPr>
              <a:defRPr sz="1875" b="0">
                <a:solidFill>
                  <a:srgbClr val="A8B8D0"/>
                </a:solidFill>
              </a:defRPr>
            </a:lvl4pPr>
            <a:lvl5pPr>
              <a:defRPr sz="1875" b="0">
                <a:solidFill>
                  <a:srgbClr val="A8B8D0"/>
                </a:solidFill>
              </a:defRPr>
            </a:lvl5pPr>
            <a:lvl6pPr>
              <a:defRPr sz="1875" b="0">
                <a:solidFill>
                  <a:srgbClr val="A8B8D0"/>
                </a:solidFill>
              </a:defRPr>
            </a:lvl6pPr>
            <a:lvl7pPr>
              <a:defRPr sz="1875" b="0">
                <a:solidFill>
                  <a:srgbClr val="A8B8D0"/>
                </a:solidFill>
              </a:defRPr>
            </a:lvl7pPr>
            <a:lvl8pPr>
              <a:defRPr sz="1875" b="0">
                <a:solidFill>
                  <a:srgbClr val="A8B8D0"/>
                </a:solidFill>
              </a:defRPr>
            </a:lvl8pPr>
            <a:lvl9pPr>
              <a:defRPr sz="187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A8B8D0"/>
                </a:solidFill>
              </a:defRPr>
            </a:pPr>
            <a:r>
              <a:rPr sz="1875" b="0">
                <a:solidFill>
                  <a:srgbClr val="A8B8D0"/>
                </a:solidFill>
              </a:rPr>
              <a:t>CityPulse ranks monitored zones, shows the recent AQI signal, and gives a proportional inspection step.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E07EF-379F-4569-BA61-5F06689B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52875"/>
            <a:ext cx="1009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4F8CFF"/>
                </a:solidFill>
              </a:defRPr>
            </a:defPPr>
            <a:lvl1pPr>
              <a:defRPr sz="2025" b="1">
                <a:solidFill>
                  <a:srgbClr val="4F8CFF"/>
                </a:solidFill>
              </a:defRPr>
            </a:lvl1pPr>
            <a:lvl2pPr>
              <a:defRPr sz="2025" b="1">
                <a:solidFill>
                  <a:srgbClr val="4F8CFF"/>
                </a:solidFill>
              </a:defRPr>
            </a:lvl2pPr>
            <a:lvl3pPr>
              <a:defRPr sz="2025" b="1">
                <a:solidFill>
                  <a:srgbClr val="4F8CFF"/>
                </a:solidFill>
              </a:defRPr>
            </a:lvl3pPr>
            <a:lvl4pPr>
              <a:defRPr sz="2025" b="1">
                <a:solidFill>
                  <a:srgbClr val="4F8CFF"/>
                </a:solidFill>
              </a:defRPr>
            </a:lvl4pPr>
            <a:lvl5pPr>
              <a:defRPr sz="2025" b="1">
                <a:solidFill>
                  <a:srgbClr val="4F8CFF"/>
                </a:solidFill>
              </a:defRPr>
            </a:lvl5pPr>
            <a:lvl6pPr>
              <a:defRPr sz="2025" b="1">
                <a:solidFill>
                  <a:srgbClr val="4F8CFF"/>
                </a:solidFill>
              </a:defRPr>
            </a:lvl6pPr>
            <a:lvl7pPr>
              <a:defRPr sz="2025" b="1">
                <a:solidFill>
                  <a:srgbClr val="4F8CFF"/>
                </a:solidFill>
              </a:defRPr>
            </a:lvl7pPr>
            <a:lvl8pPr>
              <a:defRPr sz="2025" b="1">
                <a:solidFill>
                  <a:srgbClr val="4F8CFF"/>
                </a:solidFill>
              </a:defRPr>
            </a:lvl8pPr>
            <a:lvl9pPr>
              <a:defRPr sz="2025" b="1">
                <a:solidFill>
                  <a:srgbClr val="4F8CFF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4F8CFF"/>
                </a:solidFill>
              </a:defRPr>
            </a:pPr>
            <a:r>
              <a:rPr sz="2025" b="1">
                <a:solidFill>
                  <a:srgbClr val="4F8CFF"/>
                </a:solidFill>
              </a:rPr>
              <a:t>Demo decision date: 30 Dec 2023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52DF3-F92E-4DE3-9B13-C0435A4B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1009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5C542"/>
                </a:solidFill>
              </a:defRPr>
            </a:defPPr>
            <a:lvl1pPr>
              <a:defRPr sz="2025" b="1">
                <a:solidFill>
                  <a:srgbClr val="F5C542"/>
                </a:solidFill>
              </a:defRPr>
            </a:lvl1pPr>
            <a:lvl2pPr>
              <a:defRPr sz="2025" b="1">
                <a:solidFill>
                  <a:srgbClr val="F5C542"/>
                </a:solidFill>
              </a:defRPr>
            </a:lvl2pPr>
            <a:lvl3pPr>
              <a:defRPr sz="2025" b="1">
                <a:solidFill>
                  <a:srgbClr val="F5C542"/>
                </a:solidFill>
              </a:defRPr>
            </a:lvl3pPr>
            <a:lvl4pPr>
              <a:defRPr sz="2025" b="1">
                <a:solidFill>
                  <a:srgbClr val="F5C542"/>
                </a:solidFill>
              </a:defRPr>
            </a:lvl4pPr>
            <a:lvl5pPr>
              <a:defRPr sz="2025" b="1">
                <a:solidFill>
                  <a:srgbClr val="F5C542"/>
                </a:solidFill>
              </a:defRPr>
            </a:lvl5pPr>
            <a:lvl6pPr>
              <a:defRPr sz="2025" b="1">
                <a:solidFill>
                  <a:srgbClr val="F5C542"/>
                </a:solidFill>
              </a:defRPr>
            </a:lvl6pPr>
            <a:lvl7pPr>
              <a:defRPr sz="2025" b="1">
                <a:solidFill>
                  <a:srgbClr val="F5C542"/>
                </a:solidFill>
              </a:defRPr>
            </a:lvl7pPr>
            <a:lvl8pPr>
              <a:defRPr sz="2025" b="1">
                <a:solidFill>
                  <a:srgbClr val="F5C542"/>
                </a:solidFill>
              </a:defRPr>
            </a:lvl8pPr>
            <a:lvl9pPr>
              <a:defRPr sz="2025" b="1">
                <a:solidFill>
                  <a:srgbClr val="F5C542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5C542"/>
                </a:solidFill>
              </a:defRPr>
            </a:pPr>
            <a:r>
              <a:rPr sz="2025" b="1">
                <a:solidFill>
                  <a:srgbClr val="F5C542"/>
                </a:solidFill>
              </a:rPr>
              <a:t>Target day: 31 Dec 2023</a:t>
            </a:r>
          </a:p>
        </p:txBody>
      </p:sp>
    </p:spTree>
    <p:extLst>
      <p:ext uri="{BB962C8B-B14F-4D97-AF65-F5344CB8AC3E}">
        <p14:creationId xmlns:p14="http://schemas.microsoft.com/office/powerpoint/2010/main" val="182693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DB262-8788-4365-AE4F-D8141DEA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E6EDF7"/>
                </a:solidFill>
              </a:defRPr>
            </a:defPPr>
            <a:lvl1pPr>
              <a:defRPr sz="2775" b="1">
                <a:solidFill>
                  <a:srgbClr val="E6EDF7"/>
                </a:solidFill>
              </a:defRPr>
            </a:lvl1pPr>
            <a:lvl2pPr>
              <a:defRPr sz="2775" b="1">
                <a:solidFill>
                  <a:srgbClr val="E6EDF7"/>
                </a:solidFill>
              </a:defRPr>
            </a:lvl2pPr>
            <a:lvl3pPr>
              <a:defRPr sz="2775" b="1">
                <a:solidFill>
                  <a:srgbClr val="E6EDF7"/>
                </a:solidFill>
              </a:defRPr>
            </a:lvl3pPr>
            <a:lvl4pPr>
              <a:defRPr sz="2775" b="1">
                <a:solidFill>
                  <a:srgbClr val="E6EDF7"/>
                </a:solidFill>
              </a:defRPr>
            </a:lvl4pPr>
            <a:lvl5pPr>
              <a:defRPr sz="2775" b="1">
                <a:solidFill>
                  <a:srgbClr val="E6EDF7"/>
                </a:solidFill>
              </a:defRPr>
            </a:lvl5pPr>
            <a:lvl6pPr>
              <a:defRPr sz="2775" b="1">
                <a:solidFill>
                  <a:srgbClr val="E6EDF7"/>
                </a:solidFill>
              </a:defRPr>
            </a:lvl6pPr>
            <a:lvl7pPr>
              <a:defRPr sz="2775" b="1">
                <a:solidFill>
                  <a:srgbClr val="E6EDF7"/>
                </a:solidFill>
              </a:defRPr>
            </a:lvl7pPr>
            <a:lvl8pPr>
              <a:defRPr sz="2775" b="1">
                <a:solidFill>
                  <a:srgbClr val="E6EDF7"/>
                </a:solidFill>
              </a:defRPr>
            </a:lvl8pPr>
            <a:lvl9pPr>
              <a:defRPr sz="27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E6EDF7"/>
                </a:solidFill>
              </a:defRPr>
            </a:pPr>
            <a:r>
              <a:rPr sz="2775" b="1">
                <a:solidFill>
                  <a:srgbClr val="E6EDF7"/>
                </a:solidFill>
              </a:rPr>
              <a:t>AQI is much higher in winter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069B69-5342-4CB8-93FC-543D3794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CityPulse · HackAMatch 1.0 · Historical replay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E73CF-570B-4DC7-BCCE-D3875C96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3055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F67FB-1E54-48B8-ABA6-6C67E90B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A8B8D0"/>
                </a:solidFill>
              </a:defRPr>
            </a:defPPr>
            <a:lvl1pPr>
              <a:defRPr sz="1800" b="0">
                <a:solidFill>
                  <a:srgbClr val="A8B8D0"/>
                </a:solidFill>
              </a:defRPr>
            </a:lvl1pPr>
            <a:lvl2pPr>
              <a:defRPr sz="1800" b="0">
                <a:solidFill>
                  <a:srgbClr val="A8B8D0"/>
                </a:solidFill>
              </a:defRPr>
            </a:lvl2pPr>
            <a:lvl3pPr>
              <a:defRPr sz="1800" b="0">
                <a:solidFill>
                  <a:srgbClr val="A8B8D0"/>
                </a:solidFill>
              </a:defRPr>
            </a:lvl3pPr>
            <a:lvl4pPr>
              <a:defRPr sz="1800" b="0">
                <a:solidFill>
                  <a:srgbClr val="A8B8D0"/>
                </a:solidFill>
              </a:defRPr>
            </a:lvl4pPr>
            <a:lvl5pPr>
              <a:defRPr sz="1800" b="0">
                <a:solidFill>
                  <a:srgbClr val="A8B8D0"/>
                </a:solidFill>
              </a:defRPr>
            </a:lvl5pPr>
            <a:lvl6pPr>
              <a:defRPr sz="1800" b="0">
                <a:solidFill>
                  <a:srgbClr val="A8B8D0"/>
                </a:solidFill>
              </a:defRPr>
            </a:lvl6pPr>
            <a:lvl7pPr>
              <a:defRPr sz="1800" b="0">
                <a:solidFill>
                  <a:srgbClr val="A8B8D0"/>
                </a:solidFill>
              </a:defRPr>
            </a:lvl7pPr>
            <a:lvl8pPr>
              <a:defRPr sz="1800" b="0">
                <a:solidFill>
                  <a:srgbClr val="A8B8D0"/>
                </a:solidFill>
              </a:defRPr>
            </a:lvl8pPr>
            <a:lvl9pPr>
              <a:defRPr sz="1800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A8B8D0"/>
                </a:solidFill>
              </a:defRPr>
            </a:pPr>
            <a:r>
              <a:rPr sz="1800" b="0">
                <a:solidFill>
                  <a:srgbClr val="A8B8D0"/>
                </a:solidFill>
              </a:rPr>
              <a:t>Mean AQI across valid station-days, 2021–2023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4623B26-9F09-4DDC-9D63-3A6DB90F0CD6}"/>
              </a:ext>
            </a:extLst>
          </p:cNvPr>
          <p:cNvGraphicFramePr/>
          <p:nvPr/>
        </p:nvGraphicFramePr>
        <p:xfrm>
          <a:off xmlns:a="http://schemas.openxmlformats.org/drawingml/2006/main" x="952500" y="1952625"/>
          <a:ext xmlns:a="http://schemas.openxmlformats.org/drawingml/2006/main" cx="981075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811c67268941a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CDB7C-98FA-40B9-B7EC-9B7424AD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149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5C542"/>
                </a:solidFill>
              </a:defRPr>
            </a:defPPr>
            <a:lvl1pPr>
              <a:defRPr sz="1500" b="0">
                <a:solidFill>
                  <a:srgbClr val="F5C542"/>
                </a:solidFill>
              </a:defRPr>
            </a:lvl1pPr>
            <a:lvl2pPr>
              <a:defRPr sz="1500" b="0">
                <a:solidFill>
                  <a:srgbClr val="F5C542"/>
                </a:solidFill>
              </a:defRPr>
            </a:lvl2pPr>
            <a:lvl3pPr>
              <a:defRPr sz="1500" b="0">
                <a:solidFill>
                  <a:srgbClr val="F5C542"/>
                </a:solidFill>
              </a:defRPr>
            </a:lvl3pPr>
            <a:lvl4pPr>
              <a:defRPr sz="1500" b="0">
                <a:solidFill>
                  <a:srgbClr val="F5C542"/>
                </a:solidFill>
              </a:defRPr>
            </a:lvl4pPr>
            <a:lvl5pPr>
              <a:defRPr sz="1500" b="0">
                <a:solidFill>
                  <a:srgbClr val="F5C542"/>
                </a:solidFill>
              </a:defRPr>
            </a:lvl5pPr>
            <a:lvl6pPr>
              <a:defRPr sz="1500" b="0">
                <a:solidFill>
                  <a:srgbClr val="F5C542"/>
                </a:solidFill>
              </a:defRPr>
            </a:lvl6pPr>
            <a:lvl7pPr>
              <a:defRPr sz="1500" b="0">
                <a:solidFill>
                  <a:srgbClr val="F5C542"/>
                </a:solidFill>
              </a:defRPr>
            </a:lvl7pPr>
            <a:lvl8pPr>
              <a:defRPr sz="1500" b="0">
                <a:solidFill>
                  <a:srgbClr val="F5C542"/>
                </a:solidFill>
              </a:defRPr>
            </a:lvl8pPr>
            <a:lvl9pPr>
              <a:defRPr sz="1500" b="0">
                <a:solidFill>
                  <a:srgbClr val="F5C54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5C542"/>
                </a:solidFill>
              </a:defRPr>
            </a:pPr>
            <a:r>
              <a:rPr sz="1500" b="0">
                <a:solidFill>
                  <a:srgbClr val="F5C542"/>
                </a:solidFill>
              </a:rPr>
              <a:t>22,608 valid station-days · Project threshold: at least 18 valid hours per day</a:t>
            </a:r>
          </a:p>
        </p:txBody>
      </p:sp>
    </p:spTree>
    <p:extLst>
      <p:ext uri="{BB962C8B-B14F-4D97-AF65-F5344CB8AC3E}">
        <p14:creationId xmlns:p14="http://schemas.microsoft.com/office/powerpoint/2010/main" val="14232182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264FD-62A7-472D-BD34-1F7496CF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E6EDF7"/>
                </a:solidFill>
              </a:defRPr>
            </a:defPPr>
            <a:lvl1pPr>
              <a:defRPr sz="2775" b="1">
                <a:solidFill>
                  <a:srgbClr val="E6EDF7"/>
                </a:solidFill>
              </a:defRPr>
            </a:lvl1pPr>
            <a:lvl2pPr>
              <a:defRPr sz="2775" b="1">
                <a:solidFill>
                  <a:srgbClr val="E6EDF7"/>
                </a:solidFill>
              </a:defRPr>
            </a:lvl2pPr>
            <a:lvl3pPr>
              <a:defRPr sz="2775" b="1">
                <a:solidFill>
                  <a:srgbClr val="E6EDF7"/>
                </a:solidFill>
              </a:defRPr>
            </a:lvl3pPr>
            <a:lvl4pPr>
              <a:defRPr sz="2775" b="1">
                <a:solidFill>
                  <a:srgbClr val="E6EDF7"/>
                </a:solidFill>
              </a:defRPr>
            </a:lvl4pPr>
            <a:lvl5pPr>
              <a:defRPr sz="2775" b="1">
                <a:solidFill>
                  <a:srgbClr val="E6EDF7"/>
                </a:solidFill>
              </a:defRPr>
            </a:lvl5pPr>
            <a:lvl6pPr>
              <a:defRPr sz="2775" b="1">
                <a:solidFill>
                  <a:srgbClr val="E6EDF7"/>
                </a:solidFill>
              </a:defRPr>
            </a:lvl6pPr>
            <a:lvl7pPr>
              <a:defRPr sz="2775" b="1">
                <a:solidFill>
                  <a:srgbClr val="E6EDF7"/>
                </a:solidFill>
              </a:defRPr>
            </a:lvl7pPr>
            <a:lvl8pPr>
              <a:defRPr sz="2775" b="1">
                <a:solidFill>
                  <a:srgbClr val="E6EDF7"/>
                </a:solidFill>
              </a:defRPr>
            </a:lvl8pPr>
            <a:lvl9pPr>
              <a:defRPr sz="27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E6EDF7"/>
                </a:solidFill>
              </a:defRPr>
            </a:pPr>
            <a:r>
              <a:rPr sz="2775" b="1">
                <a:solidFill>
                  <a:srgbClr val="E6EDF7"/>
                </a:solidFill>
              </a:rPr>
              <a:t>Persistence has the lowest point-forecast MAE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46611-ED25-4BDC-836C-530CC810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CityPulse · HackAMatch 1.0 · Historical replay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C6A91-66B7-4453-8D50-0FB101A0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3055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04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B2D49CCB-A871-40BE-9817-82F38691F511}"/>
              </a:ext>
            </a:extLst>
          </p:cNvPr>
          <p:cNvGraphicFramePr/>
          <p:nvPr/>
        </p:nvGraphicFramePr>
        <p:xfrm>
          <a:off xmlns:a="http://schemas.openxmlformats.org/drawingml/2006/main" x="742950" y="1428750"/>
          <a:ext xmlns:a="http://schemas.openxmlformats.org/drawingml/2006/main" cx="723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2bdb2cc4cc41d2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985B7-F7CD-466C-AAC9-A0E5FCF9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049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E6EDF7"/>
                </a:solidFill>
              </a:defRPr>
            </a:defPPr>
            <a:lvl1pPr>
              <a:defRPr sz="3600" b="1">
                <a:solidFill>
                  <a:srgbClr val="E6EDF7"/>
                </a:solidFill>
              </a:defRPr>
            </a:lvl1pPr>
            <a:lvl2pPr>
              <a:defRPr sz="3600" b="1">
                <a:solidFill>
                  <a:srgbClr val="E6EDF7"/>
                </a:solidFill>
              </a:defRPr>
            </a:lvl2pPr>
            <a:lvl3pPr>
              <a:defRPr sz="3600" b="1">
                <a:solidFill>
                  <a:srgbClr val="E6EDF7"/>
                </a:solidFill>
              </a:defRPr>
            </a:lvl3pPr>
            <a:lvl4pPr>
              <a:defRPr sz="3600" b="1">
                <a:solidFill>
                  <a:srgbClr val="E6EDF7"/>
                </a:solidFill>
              </a:defRPr>
            </a:lvl4pPr>
            <a:lvl5pPr>
              <a:defRPr sz="3600" b="1">
                <a:solidFill>
                  <a:srgbClr val="E6EDF7"/>
                </a:solidFill>
              </a:defRPr>
            </a:lvl5pPr>
            <a:lvl6pPr>
              <a:defRPr sz="3600" b="1">
                <a:solidFill>
                  <a:srgbClr val="E6EDF7"/>
                </a:solidFill>
              </a:defRPr>
            </a:lvl6pPr>
            <a:lvl7pPr>
              <a:defRPr sz="3600" b="1">
                <a:solidFill>
                  <a:srgbClr val="E6EDF7"/>
                </a:solidFill>
              </a:defRPr>
            </a:lvl7pPr>
            <a:lvl8pPr>
              <a:defRPr sz="3600" b="1">
                <a:solidFill>
                  <a:srgbClr val="E6EDF7"/>
                </a:solidFill>
              </a:defRPr>
            </a:lvl8pPr>
            <a:lvl9pPr>
              <a:defRPr sz="3600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E6EDF7"/>
                </a:solidFill>
              </a:defRPr>
            </a:pPr>
            <a:r>
              <a:rPr sz="3600" b="1">
                <a:solidFill>
                  <a:srgbClr val="E6EDF7"/>
                </a:solidFill>
              </a:rPr>
              <a:t>87.7%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5D41CF-5E63-496E-BC61-802A82AB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8B8D0"/>
                </a:solidFill>
              </a:defRPr>
            </a:defPPr>
            <a:lvl1pPr>
              <a:defRPr sz="1500" b="0">
                <a:solidFill>
                  <a:srgbClr val="A8B8D0"/>
                </a:solidFill>
              </a:defRPr>
            </a:lvl1pPr>
            <a:lvl2pPr>
              <a:defRPr sz="1500" b="0">
                <a:solidFill>
                  <a:srgbClr val="A8B8D0"/>
                </a:solidFill>
              </a:defRPr>
            </a:lvl2pPr>
            <a:lvl3pPr>
              <a:defRPr sz="1500" b="0">
                <a:solidFill>
                  <a:srgbClr val="A8B8D0"/>
                </a:solidFill>
              </a:defRPr>
            </a:lvl3pPr>
            <a:lvl4pPr>
              <a:defRPr sz="1500" b="0">
                <a:solidFill>
                  <a:srgbClr val="A8B8D0"/>
                </a:solidFill>
              </a:defRPr>
            </a:lvl4pPr>
            <a:lvl5pPr>
              <a:defRPr sz="1500" b="0">
                <a:solidFill>
                  <a:srgbClr val="A8B8D0"/>
                </a:solidFill>
              </a:defRPr>
            </a:lvl5pPr>
            <a:lvl6pPr>
              <a:defRPr sz="1500" b="0">
                <a:solidFill>
                  <a:srgbClr val="A8B8D0"/>
                </a:solidFill>
              </a:defRPr>
            </a:lvl6pPr>
            <a:lvl7pPr>
              <a:defRPr sz="1500" b="0">
                <a:solidFill>
                  <a:srgbClr val="A8B8D0"/>
                </a:solidFill>
              </a:defRPr>
            </a:lvl7pPr>
            <a:lvl8pPr>
              <a:defRPr sz="1500" b="0">
                <a:solidFill>
                  <a:srgbClr val="A8B8D0"/>
                </a:solidFill>
              </a:defRPr>
            </a:lvl8pPr>
            <a:lvl9pPr>
              <a:defRPr sz="1500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8B8D0"/>
                </a:solidFill>
              </a:defRPr>
            </a:pPr>
            <a:r>
              <a:rPr sz="1500" b="0">
                <a:solidFill>
                  <a:srgbClr val="A8B8D0"/>
                </a:solidFill>
              </a:rPr>
              <a:t>recall for AQI &gt; 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63286-8FA5-4CBD-AE04-D8BD0A99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765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E6EDF7"/>
                </a:solidFill>
              </a:defRPr>
            </a:defPPr>
            <a:lvl1pPr>
              <a:defRPr sz="3600" b="1">
                <a:solidFill>
                  <a:srgbClr val="E6EDF7"/>
                </a:solidFill>
              </a:defRPr>
            </a:lvl1pPr>
            <a:lvl2pPr>
              <a:defRPr sz="3600" b="1">
                <a:solidFill>
                  <a:srgbClr val="E6EDF7"/>
                </a:solidFill>
              </a:defRPr>
            </a:lvl2pPr>
            <a:lvl3pPr>
              <a:defRPr sz="3600" b="1">
                <a:solidFill>
                  <a:srgbClr val="E6EDF7"/>
                </a:solidFill>
              </a:defRPr>
            </a:lvl3pPr>
            <a:lvl4pPr>
              <a:defRPr sz="3600" b="1">
                <a:solidFill>
                  <a:srgbClr val="E6EDF7"/>
                </a:solidFill>
              </a:defRPr>
            </a:lvl4pPr>
            <a:lvl5pPr>
              <a:defRPr sz="3600" b="1">
                <a:solidFill>
                  <a:srgbClr val="E6EDF7"/>
                </a:solidFill>
              </a:defRPr>
            </a:lvl5pPr>
            <a:lvl6pPr>
              <a:defRPr sz="3600" b="1">
                <a:solidFill>
                  <a:srgbClr val="E6EDF7"/>
                </a:solidFill>
              </a:defRPr>
            </a:lvl6pPr>
            <a:lvl7pPr>
              <a:defRPr sz="3600" b="1">
                <a:solidFill>
                  <a:srgbClr val="E6EDF7"/>
                </a:solidFill>
              </a:defRPr>
            </a:lvl7pPr>
            <a:lvl8pPr>
              <a:defRPr sz="3600" b="1">
                <a:solidFill>
                  <a:srgbClr val="E6EDF7"/>
                </a:solidFill>
              </a:defRPr>
            </a:lvl8pPr>
            <a:lvl9pPr>
              <a:defRPr sz="3600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E6EDF7"/>
                </a:solidFill>
              </a:defRPr>
            </a:pPr>
            <a:r>
              <a:rPr sz="3600" b="1">
                <a:solidFill>
                  <a:srgbClr val="E6EDF7"/>
                </a:solidFill>
              </a:rPr>
              <a:t>59.2%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3C26C-B0B9-4943-BB70-89F23270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385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A8B8D0"/>
                </a:solidFill>
              </a:defRPr>
            </a:defPPr>
            <a:lvl1pPr>
              <a:defRPr sz="1500" b="0">
                <a:solidFill>
                  <a:srgbClr val="A8B8D0"/>
                </a:solidFill>
              </a:defRPr>
            </a:lvl1pPr>
            <a:lvl2pPr>
              <a:defRPr sz="1500" b="0">
                <a:solidFill>
                  <a:srgbClr val="A8B8D0"/>
                </a:solidFill>
              </a:defRPr>
            </a:lvl2pPr>
            <a:lvl3pPr>
              <a:defRPr sz="1500" b="0">
                <a:solidFill>
                  <a:srgbClr val="A8B8D0"/>
                </a:solidFill>
              </a:defRPr>
            </a:lvl3pPr>
            <a:lvl4pPr>
              <a:defRPr sz="1500" b="0">
                <a:solidFill>
                  <a:srgbClr val="A8B8D0"/>
                </a:solidFill>
              </a:defRPr>
            </a:lvl4pPr>
            <a:lvl5pPr>
              <a:defRPr sz="1500" b="0">
                <a:solidFill>
                  <a:srgbClr val="A8B8D0"/>
                </a:solidFill>
              </a:defRPr>
            </a:lvl5pPr>
            <a:lvl6pPr>
              <a:defRPr sz="1500" b="0">
                <a:solidFill>
                  <a:srgbClr val="A8B8D0"/>
                </a:solidFill>
              </a:defRPr>
            </a:lvl6pPr>
            <a:lvl7pPr>
              <a:defRPr sz="1500" b="0">
                <a:solidFill>
                  <a:srgbClr val="A8B8D0"/>
                </a:solidFill>
              </a:defRPr>
            </a:lvl7pPr>
            <a:lvl8pPr>
              <a:defRPr sz="1500" b="0">
                <a:solidFill>
                  <a:srgbClr val="A8B8D0"/>
                </a:solidFill>
              </a:defRPr>
            </a:lvl8pPr>
            <a:lvl9pPr>
              <a:defRPr sz="1500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A8B8D0"/>
                </a:solidFill>
              </a:defRPr>
            </a:pPr>
            <a:r>
              <a:rPr sz="1500" b="0">
                <a:solidFill>
                  <a:srgbClr val="A8B8D0"/>
                </a:solidFill>
              </a:rPr>
              <a:t>precision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7D8C3-FE85-41E8-87F5-8D895C65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F5C542"/>
                </a:solidFill>
              </a:defRPr>
            </a:defPPr>
            <a:lvl1pPr>
              <a:defRPr sz="1575" b="0">
                <a:solidFill>
                  <a:srgbClr val="F5C542"/>
                </a:solidFill>
              </a:defRPr>
            </a:lvl1pPr>
            <a:lvl2pPr>
              <a:defRPr sz="1575" b="0">
                <a:solidFill>
                  <a:srgbClr val="F5C542"/>
                </a:solidFill>
              </a:defRPr>
            </a:lvl2pPr>
            <a:lvl3pPr>
              <a:defRPr sz="1575" b="0">
                <a:solidFill>
                  <a:srgbClr val="F5C542"/>
                </a:solidFill>
              </a:defRPr>
            </a:lvl3pPr>
            <a:lvl4pPr>
              <a:defRPr sz="1575" b="0">
                <a:solidFill>
                  <a:srgbClr val="F5C542"/>
                </a:solidFill>
              </a:defRPr>
            </a:lvl4pPr>
            <a:lvl5pPr>
              <a:defRPr sz="1575" b="0">
                <a:solidFill>
                  <a:srgbClr val="F5C542"/>
                </a:solidFill>
              </a:defRPr>
            </a:lvl5pPr>
            <a:lvl6pPr>
              <a:defRPr sz="1575" b="0">
                <a:solidFill>
                  <a:srgbClr val="F5C542"/>
                </a:solidFill>
              </a:defRPr>
            </a:lvl6pPr>
            <a:lvl7pPr>
              <a:defRPr sz="1575" b="0">
                <a:solidFill>
                  <a:srgbClr val="F5C542"/>
                </a:solidFill>
              </a:defRPr>
            </a:lvl7pPr>
            <a:lvl8pPr>
              <a:defRPr sz="1575" b="0">
                <a:solidFill>
                  <a:srgbClr val="F5C542"/>
                </a:solidFill>
              </a:defRPr>
            </a:lvl8pPr>
            <a:lvl9pPr>
              <a:defRPr sz="1575" b="0">
                <a:solidFill>
                  <a:srgbClr val="F5C542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F5C542"/>
                </a:solidFill>
              </a:defRPr>
            </a:pPr>
            <a:r>
              <a:rPr sz="1575" b="0">
                <a:solidFill>
                  <a:srgbClr val="F5C542"/>
                </a:solidFill>
              </a:rPr>
              <a:t>Nominal 80% interval covered 74.1% of holdout outcomes</a:t>
            </a:r>
          </a:p>
        </p:txBody>
      </p:sp>
    </p:spTree>
    <p:extLst>
      <p:ext uri="{BB962C8B-B14F-4D97-AF65-F5344CB8AC3E}">
        <p14:creationId xmlns:p14="http://schemas.microsoft.com/office/powerpoint/2010/main" val="14813293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294503-E0E4-4790-9F3C-1A02D210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E6EDF7"/>
                </a:solidFill>
              </a:defRPr>
            </a:defPPr>
            <a:lvl1pPr>
              <a:defRPr sz="2775" b="1">
                <a:solidFill>
                  <a:srgbClr val="E6EDF7"/>
                </a:solidFill>
              </a:defRPr>
            </a:lvl1pPr>
            <a:lvl2pPr>
              <a:defRPr sz="2775" b="1">
                <a:solidFill>
                  <a:srgbClr val="E6EDF7"/>
                </a:solidFill>
              </a:defRPr>
            </a:lvl2pPr>
            <a:lvl3pPr>
              <a:defRPr sz="2775" b="1">
                <a:solidFill>
                  <a:srgbClr val="E6EDF7"/>
                </a:solidFill>
              </a:defRPr>
            </a:lvl3pPr>
            <a:lvl4pPr>
              <a:defRPr sz="2775" b="1">
                <a:solidFill>
                  <a:srgbClr val="E6EDF7"/>
                </a:solidFill>
              </a:defRPr>
            </a:lvl4pPr>
            <a:lvl5pPr>
              <a:defRPr sz="2775" b="1">
                <a:solidFill>
                  <a:srgbClr val="E6EDF7"/>
                </a:solidFill>
              </a:defRPr>
            </a:lvl5pPr>
            <a:lvl6pPr>
              <a:defRPr sz="2775" b="1">
                <a:solidFill>
                  <a:srgbClr val="E6EDF7"/>
                </a:solidFill>
              </a:defRPr>
            </a:lvl6pPr>
            <a:lvl7pPr>
              <a:defRPr sz="2775" b="1">
                <a:solidFill>
                  <a:srgbClr val="E6EDF7"/>
                </a:solidFill>
              </a:defRPr>
            </a:lvl7pPr>
            <a:lvl8pPr>
              <a:defRPr sz="2775" b="1">
                <a:solidFill>
                  <a:srgbClr val="E6EDF7"/>
                </a:solidFill>
              </a:defRPr>
            </a:lvl8pPr>
            <a:lvl9pPr>
              <a:defRPr sz="27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E6EDF7"/>
                </a:solidFill>
              </a:defRPr>
            </a:pPr>
            <a:r>
              <a:rPr sz="2775" b="1">
                <a:solidFill>
                  <a:srgbClr val="E6EDF7"/>
                </a:solidFill>
              </a:rPr>
              <a:t>What the officer sees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6DDC5-8AD2-4549-ABB7-9CB10E5F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CityPulse · HackAMatch 1.0 · Historical replay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06EE56-2707-4904-81D5-D55BF8A7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3055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97430-598D-40E0-8DF9-7F256973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95425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E6EDF7"/>
                </a:solidFill>
              </a:defRPr>
            </a:defPPr>
            <a:lvl1pPr>
              <a:defRPr sz="2025" b="0">
                <a:solidFill>
                  <a:srgbClr val="E6EDF7"/>
                </a:solidFill>
              </a:defRPr>
            </a:lvl1pPr>
            <a:lvl2pPr>
              <a:defRPr sz="2025" b="0">
                <a:solidFill>
                  <a:srgbClr val="E6EDF7"/>
                </a:solidFill>
              </a:defRPr>
            </a:lvl2pPr>
            <a:lvl3pPr>
              <a:defRPr sz="2025" b="0">
                <a:solidFill>
                  <a:srgbClr val="E6EDF7"/>
                </a:solidFill>
              </a:defRPr>
            </a:lvl3pPr>
            <a:lvl4pPr>
              <a:defRPr sz="2025" b="0">
                <a:solidFill>
                  <a:srgbClr val="E6EDF7"/>
                </a:solidFill>
              </a:defRPr>
            </a:lvl4pPr>
            <a:lvl5pPr>
              <a:defRPr sz="2025" b="0">
                <a:solidFill>
                  <a:srgbClr val="E6EDF7"/>
                </a:solidFill>
              </a:defRPr>
            </a:lvl5pPr>
            <a:lvl6pPr>
              <a:defRPr sz="2025" b="0">
                <a:solidFill>
                  <a:srgbClr val="E6EDF7"/>
                </a:solidFill>
              </a:defRPr>
            </a:lvl6pPr>
            <a:lvl7pPr>
              <a:defRPr sz="2025" b="0">
                <a:solidFill>
                  <a:srgbClr val="E6EDF7"/>
                </a:solidFill>
              </a:defRPr>
            </a:lvl7pPr>
            <a:lvl8pPr>
              <a:defRPr sz="2025" b="0">
                <a:solidFill>
                  <a:srgbClr val="E6EDF7"/>
                </a:solidFill>
              </a:defRPr>
            </a:lvl8pPr>
            <a:lvl9pPr>
              <a:defRPr sz="2025" b="0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6EDF7"/>
                </a:solidFill>
              </a:defRPr>
            </a:pPr>
            <a:r>
              <a:rPr sz="2025" b="0">
                <a:solidFill>
                  <a:srgbClr val="E6EDF7"/>
                </a:solidFill>
              </a:rPr>
              <a:t>1  Select a monitored station and inspection capacity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4E24E-8DDB-44A8-818E-BF63519C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E6EDF7"/>
                </a:solidFill>
              </a:defRPr>
            </a:defPPr>
            <a:lvl1pPr>
              <a:defRPr sz="2025" b="0">
                <a:solidFill>
                  <a:srgbClr val="E6EDF7"/>
                </a:solidFill>
              </a:defRPr>
            </a:lvl1pPr>
            <a:lvl2pPr>
              <a:defRPr sz="2025" b="0">
                <a:solidFill>
                  <a:srgbClr val="E6EDF7"/>
                </a:solidFill>
              </a:defRPr>
            </a:lvl2pPr>
            <a:lvl3pPr>
              <a:defRPr sz="2025" b="0">
                <a:solidFill>
                  <a:srgbClr val="E6EDF7"/>
                </a:solidFill>
              </a:defRPr>
            </a:lvl3pPr>
            <a:lvl4pPr>
              <a:defRPr sz="2025" b="0">
                <a:solidFill>
                  <a:srgbClr val="E6EDF7"/>
                </a:solidFill>
              </a:defRPr>
            </a:lvl4pPr>
            <a:lvl5pPr>
              <a:defRPr sz="2025" b="0">
                <a:solidFill>
                  <a:srgbClr val="E6EDF7"/>
                </a:solidFill>
              </a:defRPr>
            </a:lvl5pPr>
            <a:lvl6pPr>
              <a:defRPr sz="2025" b="0">
                <a:solidFill>
                  <a:srgbClr val="E6EDF7"/>
                </a:solidFill>
              </a:defRPr>
            </a:lvl6pPr>
            <a:lvl7pPr>
              <a:defRPr sz="2025" b="0">
                <a:solidFill>
                  <a:srgbClr val="E6EDF7"/>
                </a:solidFill>
              </a:defRPr>
            </a:lvl7pPr>
            <a:lvl8pPr>
              <a:defRPr sz="2025" b="0">
                <a:solidFill>
                  <a:srgbClr val="E6EDF7"/>
                </a:solidFill>
              </a:defRPr>
            </a:lvl8pPr>
            <a:lvl9pPr>
              <a:defRPr sz="2025" b="0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6EDF7"/>
                </a:solidFill>
              </a:defRPr>
            </a:pPr>
            <a:r>
              <a:rPr sz="2025" b="0">
                <a:solidFill>
                  <a:srgbClr val="E6EDF7"/>
                </a:solidFill>
              </a:rPr>
              <a:t>2  See rank, observed AQI, and estimated target-day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C105B8-1666-4332-B459-CB0839AD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E6EDF7"/>
                </a:solidFill>
              </a:defRPr>
            </a:defPPr>
            <a:lvl1pPr>
              <a:defRPr sz="2025" b="0">
                <a:solidFill>
                  <a:srgbClr val="E6EDF7"/>
                </a:solidFill>
              </a:defRPr>
            </a:lvl1pPr>
            <a:lvl2pPr>
              <a:defRPr sz="2025" b="0">
                <a:solidFill>
                  <a:srgbClr val="E6EDF7"/>
                </a:solidFill>
              </a:defRPr>
            </a:lvl2pPr>
            <a:lvl3pPr>
              <a:defRPr sz="2025" b="0">
                <a:solidFill>
                  <a:srgbClr val="E6EDF7"/>
                </a:solidFill>
              </a:defRPr>
            </a:lvl3pPr>
            <a:lvl4pPr>
              <a:defRPr sz="2025" b="0">
                <a:solidFill>
                  <a:srgbClr val="E6EDF7"/>
                </a:solidFill>
              </a:defRPr>
            </a:lvl4pPr>
            <a:lvl5pPr>
              <a:defRPr sz="2025" b="0">
                <a:solidFill>
                  <a:srgbClr val="E6EDF7"/>
                </a:solidFill>
              </a:defRPr>
            </a:lvl5pPr>
            <a:lvl6pPr>
              <a:defRPr sz="2025" b="0">
                <a:solidFill>
                  <a:srgbClr val="E6EDF7"/>
                </a:solidFill>
              </a:defRPr>
            </a:lvl6pPr>
            <a:lvl7pPr>
              <a:defRPr sz="2025" b="0">
                <a:solidFill>
                  <a:srgbClr val="E6EDF7"/>
                </a:solidFill>
              </a:defRPr>
            </a:lvl7pPr>
            <a:lvl8pPr>
              <a:defRPr sz="2025" b="0">
                <a:solidFill>
                  <a:srgbClr val="E6EDF7"/>
                </a:solidFill>
              </a:defRPr>
            </a:lvl8pPr>
            <a:lvl9pPr>
              <a:defRPr sz="2025" b="0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6EDF7"/>
                </a:solidFill>
              </a:defRPr>
            </a:pPr>
            <a:r>
              <a:rPr sz="2025" b="0">
                <a:solidFill>
                  <a:srgbClr val="E6EDF7"/>
                </a:solidFill>
              </a:rPr>
              <a:t>3  Read evidence, caveats, and a practical inspection step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91C9C-D2DB-444B-B1BB-09DA4ECE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1028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E6EDF7"/>
                </a:solidFill>
              </a:defRPr>
            </a:defPPr>
            <a:lvl1pPr>
              <a:defRPr sz="2025" b="0">
                <a:solidFill>
                  <a:srgbClr val="E6EDF7"/>
                </a:solidFill>
              </a:defRPr>
            </a:lvl1pPr>
            <a:lvl2pPr>
              <a:defRPr sz="2025" b="0">
                <a:solidFill>
                  <a:srgbClr val="E6EDF7"/>
                </a:solidFill>
              </a:defRPr>
            </a:lvl2pPr>
            <a:lvl3pPr>
              <a:defRPr sz="2025" b="0">
                <a:solidFill>
                  <a:srgbClr val="E6EDF7"/>
                </a:solidFill>
              </a:defRPr>
            </a:lvl3pPr>
            <a:lvl4pPr>
              <a:defRPr sz="2025" b="0">
                <a:solidFill>
                  <a:srgbClr val="E6EDF7"/>
                </a:solidFill>
              </a:defRPr>
            </a:lvl4pPr>
            <a:lvl5pPr>
              <a:defRPr sz="2025" b="0">
                <a:solidFill>
                  <a:srgbClr val="E6EDF7"/>
                </a:solidFill>
              </a:defRPr>
            </a:lvl5pPr>
            <a:lvl6pPr>
              <a:defRPr sz="2025" b="0">
                <a:solidFill>
                  <a:srgbClr val="E6EDF7"/>
                </a:solidFill>
              </a:defRPr>
            </a:lvl6pPr>
            <a:lvl7pPr>
              <a:defRPr sz="2025" b="0">
                <a:solidFill>
                  <a:srgbClr val="E6EDF7"/>
                </a:solidFill>
              </a:defRPr>
            </a:lvl7pPr>
            <a:lvl8pPr>
              <a:defRPr sz="2025" b="0">
                <a:solidFill>
                  <a:srgbClr val="E6EDF7"/>
                </a:solidFill>
              </a:defRPr>
            </a:lvl8pPr>
            <a:lvl9pPr>
              <a:defRPr sz="2025" b="0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E6EDF7"/>
                </a:solidFill>
              </a:defRPr>
            </a:pPr>
            <a:r>
              <a:rPr sz="2025" b="0">
                <a:solidFill>
                  <a:srgbClr val="E6EDF7"/>
                </a:solidFill>
              </a:rPr>
              <a:t>4  Change weights and see how priorities respond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DEA7D-339D-4EEB-BF59-9C2DA69D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F5C542"/>
                </a:solidFill>
              </a:defRPr>
            </a:defPPr>
            <a:lvl1pPr>
              <a:defRPr sz="1500" b="0">
                <a:solidFill>
                  <a:srgbClr val="F5C542"/>
                </a:solidFill>
              </a:defRPr>
            </a:lvl1pPr>
            <a:lvl2pPr>
              <a:defRPr sz="1500" b="0">
                <a:solidFill>
                  <a:srgbClr val="F5C542"/>
                </a:solidFill>
              </a:defRPr>
            </a:lvl2pPr>
            <a:lvl3pPr>
              <a:defRPr sz="1500" b="0">
                <a:solidFill>
                  <a:srgbClr val="F5C542"/>
                </a:solidFill>
              </a:defRPr>
            </a:lvl3pPr>
            <a:lvl4pPr>
              <a:defRPr sz="1500" b="0">
                <a:solidFill>
                  <a:srgbClr val="F5C542"/>
                </a:solidFill>
              </a:defRPr>
            </a:lvl4pPr>
            <a:lvl5pPr>
              <a:defRPr sz="1500" b="0">
                <a:solidFill>
                  <a:srgbClr val="F5C542"/>
                </a:solidFill>
              </a:defRPr>
            </a:lvl5pPr>
            <a:lvl6pPr>
              <a:defRPr sz="1500" b="0">
                <a:solidFill>
                  <a:srgbClr val="F5C542"/>
                </a:solidFill>
              </a:defRPr>
            </a:lvl6pPr>
            <a:lvl7pPr>
              <a:defRPr sz="1500" b="0">
                <a:solidFill>
                  <a:srgbClr val="F5C542"/>
                </a:solidFill>
              </a:defRPr>
            </a:lvl7pPr>
            <a:lvl8pPr>
              <a:defRPr sz="1500" b="0">
                <a:solidFill>
                  <a:srgbClr val="F5C542"/>
                </a:solidFill>
              </a:defRPr>
            </a:lvl8pPr>
            <a:lvl9pPr>
              <a:defRPr sz="1500" b="0">
                <a:solidFill>
                  <a:srgbClr val="F5C542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5C542"/>
                </a:solidFill>
              </a:defRPr>
            </a:pPr>
            <a:r>
              <a:rPr sz="1500" b="0">
                <a:solidFill>
                  <a:srgbClr val="F5C542"/>
                </a:solidFill>
              </a:rPr>
              <a:t>The score is a triage heuristic; it does not assign blame to a source.</a:t>
            </a:r>
          </a:p>
        </p:txBody>
      </p:sp>
    </p:spTree>
    <p:extLst>
      <p:ext uri="{BB962C8B-B14F-4D97-AF65-F5344CB8AC3E}">
        <p14:creationId xmlns:p14="http://schemas.microsoft.com/office/powerpoint/2010/main" val="20604899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FDBA1C-3C4C-4025-8590-2BE7ADF3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E6EDF7"/>
                </a:solidFill>
              </a:defRPr>
            </a:defPPr>
            <a:lvl1pPr>
              <a:defRPr sz="2775" b="1">
                <a:solidFill>
                  <a:srgbClr val="E6EDF7"/>
                </a:solidFill>
              </a:defRPr>
            </a:lvl1pPr>
            <a:lvl2pPr>
              <a:defRPr sz="2775" b="1">
                <a:solidFill>
                  <a:srgbClr val="E6EDF7"/>
                </a:solidFill>
              </a:defRPr>
            </a:lvl2pPr>
            <a:lvl3pPr>
              <a:defRPr sz="2775" b="1">
                <a:solidFill>
                  <a:srgbClr val="E6EDF7"/>
                </a:solidFill>
              </a:defRPr>
            </a:lvl3pPr>
            <a:lvl4pPr>
              <a:defRPr sz="2775" b="1">
                <a:solidFill>
                  <a:srgbClr val="E6EDF7"/>
                </a:solidFill>
              </a:defRPr>
            </a:lvl4pPr>
            <a:lvl5pPr>
              <a:defRPr sz="2775" b="1">
                <a:solidFill>
                  <a:srgbClr val="E6EDF7"/>
                </a:solidFill>
              </a:defRPr>
            </a:lvl5pPr>
            <a:lvl6pPr>
              <a:defRPr sz="2775" b="1">
                <a:solidFill>
                  <a:srgbClr val="E6EDF7"/>
                </a:solidFill>
              </a:defRPr>
            </a:lvl6pPr>
            <a:lvl7pPr>
              <a:defRPr sz="2775" b="1">
                <a:solidFill>
                  <a:srgbClr val="E6EDF7"/>
                </a:solidFill>
              </a:defRPr>
            </a:lvl7pPr>
            <a:lvl8pPr>
              <a:defRPr sz="2775" b="1">
                <a:solidFill>
                  <a:srgbClr val="E6EDF7"/>
                </a:solidFill>
              </a:defRPr>
            </a:lvl8pPr>
            <a:lvl9pPr>
              <a:defRPr sz="27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E6EDF7"/>
                </a:solidFill>
              </a:defRPr>
            </a:pPr>
            <a:r>
              <a:rPr sz="2775" b="1">
                <a:solidFill>
                  <a:srgbClr val="E6EDF7"/>
                </a:solidFill>
              </a:rPr>
              <a:t>Limits and the next validation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71EB2-B1C2-4ACC-B2A3-C94A1EB2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CityPulse · HackAMatch 1.0 · Historical replay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1988D-53C7-4F94-AA17-8690F609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3055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8B8D0"/>
                </a:solidFill>
              </a:defRPr>
            </a:defPPr>
            <a:lvl1pPr>
              <a:defRPr sz="1125" b="0">
                <a:solidFill>
                  <a:srgbClr val="A8B8D0"/>
                </a:solidFill>
              </a:defRPr>
            </a:lvl1pPr>
            <a:lvl2pPr>
              <a:defRPr sz="1125" b="0">
                <a:solidFill>
                  <a:srgbClr val="A8B8D0"/>
                </a:solidFill>
              </a:defRPr>
            </a:lvl2pPr>
            <a:lvl3pPr>
              <a:defRPr sz="1125" b="0">
                <a:solidFill>
                  <a:srgbClr val="A8B8D0"/>
                </a:solidFill>
              </a:defRPr>
            </a:lvl3pPr>
            <a:lvl4pPr>
              <a:defRPr sz="1125" b="0">
                <a:solidFill>
                  <a:srgbClr val="A8B8D0"/>
                </a:solidFill>
              </a:defRPr>
            </a:lvl4pPr>
            <a:lvl5pPr>
              <a:defRPr sz="1125" b="0">
                <a:solidFill>
                  <a:srgbClr val="A8B8D0"/>
                </a:solidFill>
              </a:defRPr>
            </a:lvl5pPr>
            <a:lvl6pPr>
              <a:defRPr sz="1125" b="0">
                <a:solidFill>
                  <a:srgbClr val="A8B8D0"/>
                </a:solidFill>
              </a:defRPr>
            </a:lvl6pPr>
            <a:lvl7pPr>
              <a:defRPr sz="1125" b="0">
                <a:solidFill>
                  <a:srgbClr val="A8B8D0"/>
                </a:solidFill>
              </a:defRPr>
            </a:lvl7pPr>
            <a:lvl8pPr>
              <a:defRPr sz="1125" b="0">
                <a:solidFill>
                  <a:srgbClr val="A8B8D0"/>
                </a:solidFill>
              </a:defRPr>
            </a:lvl8pPr>
            <a:lvl9pPr>
              <a:defRPr sz="1125" b="0">
                <a:solidFill>
                  <a:srgbClr val="A8B8D0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A8B8D0"/>
                </a:solidFill>
              </a:defRPr>
            </a:pPr>
            <a:r>
              <a:rPr sz="1125" b="0">
                <a:solidFill>
                  <a:srgbClr val="A8B8D0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C648D4-CDC7-4E77-8C87-4625BAFE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E6EDF7"/>
                </a:solidFill>
              </a:defRPr>
            </a:defPPr>
            <a:lvl1pPr>
              <a:defRPr sz="2175" b="1">
                <a:solidFill>
                  <a:srgbClr val="E6EDF7"/>
                </a:solidFill>
              </a:defRPr>
            </a:lvl1pPr>
            <a:lvl2pPr>
              <a:defRPr sz="2175" b="1">
                <a:solidFill>
                  <a:srgbClr val="E6EDF7"/>
                </a:solidFill>
              </a:defRPr>
            </a:lvl2pPr>
            <a:lvl3pPr>
              <a:defRPr sz="2175" b="1">
                <a:solidFill>
                  <a:srgbClr val="E6EDF7"/>
                </a:solidFill>
              </a:defRPr>
            </a:lvl3pPr>
            <a:lvl4pPr>
              <a:defRPr sz="2175" b="1">
                <a:solidFill>
                  <a:srgbClr val="E6EDF7"/>
                </a:solidFill>
              </a:defRPr>
            </a:lvl4pPr>
            <a:lvl5pPr>
              <a:defRPr sz="2175" b="1">
                <a:solidFill>
                  <a:srgbClr val="E6EDF7"/>
                </a:solidFill>
              </a:defRPr>
            </a:lvl5pPr>
            <a:lvl6pPr>
              <a:defRPr sz="2175" b="1">
                <a:solidFill>
                  <a:srgbClr val="E6EDF7"/>
                </a:solidFill>
              </a:defRPr>
            </a:lvl6pPr>
            <a:lvl7pPr>
              <a:defRPr sz="2175" b="1">
                <a:solidFill>
                  <a:srgbClr val="E6EDF7"/>
                </a:solidFill>
              </a:defRPr>
            </a:lvl7pPr>
            <a:lvl8pPr>
              <a:defRPr sz="2175" b="1">
                <a:solidFill>
                  <a:srgbClr val="E6EDF7"/>
                </a:solidFill>
              </a:defRPr>
            </a:lvl8pPr>
            <a:lvl9pPr>
              <a:defRPr sz="21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6EDF7"/>
                </a:solidFill>
              </a:defRPr>
            </a:pPr>
            <a:r>
              <a:rPr sz="2175" b="1">
                <a:solidFill>
                  <a:srgbClr val="E6EDF7"/>
                </a:solidFill>
              </a:rPr>
              <a:t>Historical data cannot support a current alert.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ABA89-113E-43F6-A2D3-E3F2A8FE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28875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E6EDF7"/>
                </a:solidFill>
              </a:defRPr>
            </a:defPPr>
            <a:lvl1pPr>
              <a:defRPr sz="2175" b="1">
                <a:solidFill>
                  <a:srgbClr val="E6EDF7"/>
                </a:solidFill>
              </a:defRPr>
            </a:lvl1pPr>
            <a:lvl2pPr>
              <a:defRPr sz="2175" b="1">
                <a:solidFill>
                  <a:srgbClr val="E6EDF7"/>
                </a:solidFill>
              </a:defRPr>
            </a:lvl2pPr>
            <a:lvl3pPr>
              <a:defRPr sz="2175" b="1">
                <a:solidFill>
                  <a:srgbClr val="E6EDF7"/>
                </a:solidFill>
              </a:defRPr>
            </a:lvl3pPr>
            <a:lvl4pPr>
              <a:defRPr sz="2175" b="1">
                <a:solidFill>
                  <a:srgbClr val="E6EDF7"/>
                </a:solidFill>
              </a:defRPr>
            </a:lvl4pPr>
            <a:lvl5pPr>
              <a:defRPr sz="2175" b="1">
                <a:solidFill>
                  <a:srgbClr val="E6EDF7"/>
                </a:solidFill>
              </a:defRPr>
            </a:lvl5pPr>
            <a:lvl6pPr>
              <a:defRPr sz="2175" b="1">
                <a:solidFill>
                  <a:srgbClr val="E6EDF7"/>
                </a:solidFill>
              </a:defRPr>
            </a:lvl6pPr>
            <a:lvl7pPr>
              <a:defRPr sz="2175" b="1">
                <a:solidFill>
                  <a:srgbClr val="E6EDF7"/>
                </a:solidFill>
              </a:defRPr>
            </a:lvl7pPr>
            <a:lvl8pPr>
              <a:defRPr sz="2175" b="1">
                <a:solidFill>
                  <a:srgbClr val="E6EDF7"/>
                </a:solidFill>
              </a:defRPr>
            </a:lvl8pPr>
            <a:lvl9pPr>
              <a:defRPr sz="21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6EDF7"/>
                </a:solidFill>
              </a:defRPr>
            </a:pPr>
            <a:r>
              <a:rPr sz="2175" b="1">
                <a:solidFill>
                  <a:srgbClr val="E6EDF7"/>
                </a:solidFill>
              </a:rPr>
              <a:t>A point monitor cannot describe every street in a ward.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8FB19-CE91-4D5C-85A3-A0CAE0A7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E6EDF7"/>
                </a:solidFill>
              </a:defRPr>
            </a:defPPr>
            <a:lvl1pPr>
              <a:defRPr sz="2175" b="1">
                <a:solidFill>
                  <a:srgbClr val="E6EDF7"/>
                </a:solidFill>
              </a:defRPr>
            </a:lvl1pPr>
            <a:lvl2pPr>
              <a:defRPr sz="2175" b="1">
                <a:solidFill>
                  <a:srgbClr val="E6EDF7"/>
                </a:solidFill>
              </a:defRPr>
            </a:lvl2pPr>
            <a:lvl3pPr>
              <a:defRPr sz="2175" b="1">
                <a:solidFill>
                  <a:srgbClr val="E6EDF7"/>
                </a:solidFill>
              </a:defRPr>
            </a:lvl3pPr>
            <a:lvl4pPr>
              <a:defRPr sz="2175" b="1">
                <a:solidFill>
                  <a:srgbClr val="E6EDF7"/>
                </a:solidFill>
              </a:defRPr>
            </a:lvl4pPr>
            <a:lvl5pPr>
              <a:defRPr sz="2175" b="1">
                <a:solidFill>
                  <a:srgbClr val="E6EDF7"/>
                </a:solidFill>
              </a:defRPr>
            </a:lvl5pPr>
            <a:lvl6pPr>
              <a:defRPr sz="2175" b="1">
                <a:solidFill>
                  <a:srgbClr val="E6EDF7"/>
                </a:solidFill>
              </a:defRPr>
            </a:lvl6pPr>
            <a:lvl7pPr>
              <a:defRPr sz="2175" b="1">
                <a:solidFill>
                  <a:srgbClr val="E6EDF7"/>
                </a:solidFill>
              </a:defRPr>
            </a:lvl7pPr>
            <a:lvl8pPr>
              <a:defRPr sz="2175" b="1">
                <a:solidFill>
                  <a:srgbClr val="E6EDF7"/>
                </a:solidFill>
              </a:defRPr>
            </a:lvl8pPr>
            <a:lvl9pPr>
              <a:defRPr sz="2175" b="1">
                <a:solidFill>
                  <a:srgbClr val="E6EDF7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E6EDF7"/>
                </a:solidFill>
              </a:defRPr>
            </a:pPr>
            <a:r>
              <a:rPr sz="2175" b="1">
                <a:solidFill>
                  <a:srgbClr val="E6EDF7"/>
                </a:solidFill>
              </a:rPr>
              <a:t>The classifier has false alerts; the interval undercovers.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E9488-324A-4EF2-B198-0E4A17ED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4F8CFF"/>
                </a:solidFill>
              </a:defRPr>
            </a:defPPr>
            <a:lvl1pPr>
              <a:defRPr sz="2025" b="1">
                <a:solidFill>
                  <a:srgbClr val="4F8CFF"/>
                </a:solidFill>
              </a:defRPr>
            </a:lvl1pPr>
            <a:lvl2pPr>
              <a:defRPr sz="2025" b="1">
                <a:solidFill>
                  <a:srgbClr val="4F8CFF"/>
                </a:solidFill>
              </a:defRPr>
            </a:lvl2pPr>
            <a:lvl3pPr>
              <a:defRPr sz="2025" b="1">
                <a:solidFill>
                  <a:srgbClr val="4F8CFF"/>
                </a:solidFill>
              </a:defRPr>
            </a:lvl3pPr>
            <a:lvl4pPr>
              <a:defRPr sz="2025" b="1">
                <a:solidFill>
                  <a:srgbClr val="4F8CFF"/>
                </a:solidFill>
              </a:defRPr>
            </a:lvl4pPr>
            <a:lvl5pPr>
              <a:defRPr sz="2025" b="1">
                <a:solidFill>
                  <a:srgbClr val="4F8CFF"/>
                </a:solidFill>
              </a:defRPr>
            </a:lvl5pPr>
            <a:lvl6pPr>
              <a:defRPr sz="2025" b="1">
                <a:solidFill>
                  <a:srgbClr val="4F8CFF"/>
                </a:solidFill>
              </a:defRPr>
            </a:lvl6pPr>
            <a:lvl7pPr>
              <a:defRPr sz="2025" b="1">
                <a:solidFill>
                  <a:srgbClr val="4F8CFF"/>
                </a:solidFill>
              </a:defRPr>
            </a:lvl7pPr>
            <a:lvl8pPr>
              <a:defRPr sz="2025" b="1">
                <a:solidFill>
                  <a:srgbClr val="4F8CFF"/>
                </a:solidFill>
              </a:defRPr>
            </a:lvl8pPr>
            <a:lvl9pPr>
              <a:defRPr sz="2025" b="1">
                <a:solidFill>
                  <a:srgbClr val="4F8CFF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4F8CFF"/>
                </a:solidFill>
              </a:defRPr>
            </a:pPr>
            <a:r>
              <a:rPr sz="2025" b="1">
                <a:solidFill>
                  <a:srgbClr val="4F8CFF"/>
                </a:solidFill>
              </a:rPr>
              <a:t>Next: prospective pilot with fresh observations and officer feedback.</a:t>
            </a:r>
          </a:p>
        </p:txBody>
      </p:sp>
    </p:spTree>
    <p:extLst>
      <p:ext uri="{BB962C8B-B14F-4D97-AF65-F5344CB8AC3E}">
        <p14:creationId xmlns:p14="http://schemas.microsoft.com/office/powerpoint/2010/main" val="8814968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2026-10-22T17:18:00.9260000Z</dcterms:created>
  <dcterms:modified xsi:type="dcterms:W3CDTF">2026-10-22T17:18:00.9260000Z</dcterms:modified>
</coreProperties>
</file>
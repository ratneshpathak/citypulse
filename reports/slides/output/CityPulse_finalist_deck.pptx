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9533B39-8A0E-A881-DAE4-EC4FBE210AE0}">
          <p14:sldIdLst>
            <p14:sldId id="256"/>
            <p14:sldId id="257"/>
          </p14:sldIdLst>
        </p14:section>
        <p14:section name="Product" id="{EE891143-0543-1B23-6543-0769CE05F2C0}">
          <p14:sldIdLst>
            <p14:sldId id="258"/>
            <p14:sldId id="259"/>
            <p14:sldId id="260"/>
            <p14:sldId id="261"/>
            <p14:sldId id="262"/>
          </p14:sldIdLst>
        </p14:section>
        <p14:section name="Evidence" id="{4F461C48-B984-A36F-FAF1-0C9E3FFF65AF}">
          <p14:sldIdLst>
            <p14:sldId id="263"/>
            <p14:sldId id="264"/>
            <p14:sldId id="265"/>
          </p14:sldIdLst>
        </p14:section>
        <p14:section name="Close" id="{02B13AB7-1821-987F-DA1D-07E200539B7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6FC"/>
                </a:solidFill>
                <a:latin typeface="+mn-lt"/>
              </a:defRPr>
            </a:pPr>
            <a:r>
              <a:rPr lang="en-US" sz="1400" b="0" i="0" u="none" strike="noStrike">
                <a:solidFill>
                  <a:srgbClr val="F2F6FC"/>
                </a:solidFill>
                <a:latin typeface="+mn-lt"/>
              </a:rPr>
              <a:t>Default weights (sum = 1.00, adjustable)</a:t>
            </a:r>
          </a:p>
        </c:rich>
      </c:tx>
      <c:overlay val="0"/>
    </c:title>
    <c:autoTitleDeleted val="0"/>
    <c:plotArea>
      <c:layout/>
      <c:barChart>
        <c:barDir val="bar"/>
        <c:grouping val="clustered"/>
        <c:varyColors val="0"/>
        <c:ser>
          <c:idx val="0"/>
          <c:order val="0"/>
          <c:tx>
            <c:strRef>
              <c:f>Sheet1!$B$1</c:f>
              <c:strCache>
                <c:ptCount val="1"/>
                <c:pt idx="0">
                  <c:v>Default weight</c:v>
                </c:pt>
              </c:strCache>
            </c:strRef>
          </c:tx>
          <c:spPr>
            <a:solidFill>
              <a:srgbClr val="4C8DF6"/>
            </a:solidFill>
            <a:effectLst/>
          </c:spPr>
          <c:invertIfNegative val="0"/>
          <c:dLbls>
            <c:numFmt formatCode="0.00" sourceLinked="0"/>
            <c:spPr>
              <a:noFill/>
              <a:ln>
                <a:noFill/>
              </a:ln>
              <a:effectLst/>
            </c:spPr>
            <c:txPr>
              <a:bodyPr/>
              <a:lstStyle/>
              <a:p>
                <a:pPr>
                  <a:defRPr sz="1400" b="1" i="0" u="none" strike="noStrike">
                    <a:solidFill>
                      <a:srgbClr val="F2F6F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Recent exposure (7-day)</c:v>
                </c:pt>
                <c:pt idx="1">
                  <c:v>Persistence (AQI &gt; 150)</c:v>
                </c:pt>
                <c:pt idx="2">
                  <c:v>Forecast risk (24h)</c:v>
                </c:pt>
                <c:pt idx="3">
                  <c:v>Trend acceleration</c:v>
                </c:pt>
                <c:pt idx="4">
                  <c:v>Vulnerability / gap</c:v>
                </c:pt>
              </c:strCache>
            </c:strRef>
          </c:cat>
          <c:val>
            <c:numRef>
              <c:f>Sheet1!$B$2:$B$6</c:f>
              <c:numCache>
                <c:formatCode>General</c:formatCode>
                <c:ptCount val="5"/>
                <c:pt idx="0">
                  <c:v>0.3</c:v>
                </c:pt>
                <c:pt idx="1">
                  <c:v>0.25</c:v>
                </c:pt>
                <c:pt idx="2">
                  <c:v>0.2</c:v>
                </c:pt>
                <c:pt idx="3">
                  <c:v>0.15</c:v>
                </c:pt>
                <c:pt idx="4">
                  <c:v>0.1</c:v>
                </c:pt>
              </c:numCache>
            </c:numRef>
          </c:val>
          <c:extLst>
            <c:ext xmlns:c16="http://schemas.microsoft.com/office/drawing/2014/chart" uri="{C3380CC4-5D6E-409C-BE32-E72D297353CC}">
              <c16:uniqueId val="{00000000-AB9C-4DDA-B1D3-796E2D77CBAB}"/>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CF"/>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6FC"/>
                </a:solidFill>
                <a:latin typeface="+mn-lt"/>
              </a:defRPr>
            </a:pPr>
            <a:r>
              <a:rPr lang="en-US" sz="1400" b="0" i="0" u="none" strike="noStrike">
                <a:solidFill>
                  <a:srgbClr val="F2F6FC"/>
                </a:solidFill>
                <a:latin typeface="+mn-lt"/>
              </a:rPr>
              <a:t>Mean station-day AQI by season</a:t>
            </a:r>
          </a:p>
        </c:rich>
      </c:tx>
      <c:overlay val="0"/>
    </c:title>
    <c:autoTitleDeleted val="0"/>
    <c:plotArea>
      <c:layout/>
      <c:barChart>
        <c:barDir val="col"/>
        <c:grouping val="clustered"/>
        <c:varyColors val="0"/>
        <c:ser>
          <c:idx val="0"/>
          <c:order val="0"/>
          <c:tx>
            <c:strRef>
              <c:f>Sheet1!$B$1</c:f>
              <c:strCache>
                <c:ptCount val="1"/>
                <c:pt idx="0">
                  <c:v>Mean AQI</c:v>
                </c:pt>
              </c:strCache>
            </c:strRef>
          </c:tx>
          <c:spPr>
            <a:solidFill>
              <a:srgbClr val="F5B544"/>
            </a:solidFill>
            <a:effectLst/>
          </c:spPr>
          <c:invertIfNegative val="0"/>
          <c:dLbls>
            <c:numFmt formatCode="0.0" sourceLinked="0"/>
            <c:spPr>
              <a:noFill/>
              <a:ln>
                <a:noFill/>
              </a:ln>
              <a:effectLst/>
            </c:spPr>
            <c:txPr>
              <a:bodyPr/>
              <a:lstStyle/>
              <a:p>
                <a:pPr>
                  <a:defRPr sz="1400" b="1" i="0" u="none" strike="noStrike">
                    <a:solidFill>
                      <a:srgbClr val="F2F6F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Monsoon (Jun–Sep)</c:v>
                </c:pt>
                <c:pt idx="1">
                  <c:v>Winter (Dec–Feb)</c:v>
                </c:pt>
              </c:strCache>
            </c:strRef>
          </c:cat>
          <c:val>
            <c:numRef>
              <c:f>Sheet1!$B$2:$B$3</c:f>
              <c:numCache>
                <c:formatCode>General</c:formatCode>
                <c:ptCount val="2"/>
                <c:pt idx="0">
                  <c:v>63.9</c:v>
                </c:pt>
                <c:pt idx="1">
                  <c:v>185</c:v>
                </c:pt>
              </c:numCache>
            </c:numRef>
          </c:val>
          <c:extLst>
            <c:ext xmlns:c16="http://schemas.microsoft.com/office/drawing/2014/chart" uri="{C3380CC4-5D6E-409C-BE32-E72D297353CC}">
              <c16:uniqueId val="{00000000-98AC-4D54-A586-3A6B0A33F40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CF"/>
                </a:solidFill>
                <a:latin typeface="+mn-lt"/>
              </a:defRPr>
            </a:pPr>
            <a:endParaRPr lang="en-US"/>
          </a:p>
        </c:txPr>
        <c:crossAx val="2094734552"/>
        <c:crosses val="autoZero"/>
        <c:auto val="1"/>
        <c:lblAlgn val="ctr"/>
        <c:lblOffset val="100"/>
        <c:noMultiLvlLbl val="1"/>
      </c:catAx>
      <c:valAx>
        <c:axId val="2094734552"/>
        <c:scaling>
          <c:orientation val="minMax"/>
          <c:max val="2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6FC"/>
                </a:solidFill>
                <a:latin typeface="+mn-lt"/>
              </a:defRPr>
            </a:pPr>
            <a:r>
              <a:rPr lang="en-US" sz="1400" b="0" i="0" u="none" strike="noStrike">
                <a:solidFill>
                  <a:srgbClr val="F2F6FC"/>
                </a:solidFill>
                <a:latin typeface="+mn-lt"/>
              </a:rPr>
              <a:t>Station-days with AQI &gt; 200 (%)</a:t>
            </a:r>
          </a:p>
        </c:rich>
      </c:tx>
      <c:overlay val="0"/>
    </c:title>
    <c:autoTitleDeleted val="0"/>
    <c:plotArea>
      <c:layout/>
      <c:barChart>
        <c:barDir val="col"/>
        <c:grouping val="clustered"/>
        <c:varyColors val="0"/>
        <c:ser>
          <c:idx val="0"/>
          <c:order val="0"/>
          <c:tx>
            <c:strRef>
              <c:f>Sheet1!$B$1</c:f>
              <c:strCache>
                <c:ptCount val="1"/>
                <c:pt idx="0">
                  <c:v>Share of station-days</c:v>
                </c:pt>
              </c:strCache>
            </c:strRef>
          </c:tx>
          <c:spPr>
            <a:solidFill>
              <a:srgbClr val="EF6B6B"/>
            </a:solidFill>
            <a:effectLst/>
          </c:spPr>
          <c:invertIfNegative val="0"/>
          <c:dLbls>
            <c:numFmt formatCode="0.0" sourceLinked="0"/>
            <c:spPr>
              <a:noFill/>
              <a:ln>
                <a:noFill/>
              </a:ln>
              <a:effectLst/>
            </c:spPr>
            <c:txPr>
              <a:bodyPr/>
              <a:lstStyle/>
              <a:p>
                <a:pPr>
                  <a:defRPr sz="1400" b="1" i="0" u="none" strike="noStrike">
                    <a:solidFill>
                      <a:srgbClr val="F2F6F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Calmest wind quintile</c:v>
                </c:pt>
                <c:pt idx="1">
                  <c:v>Windiest quintile</c:v>
                </c:pt>
              </c:strCache>
            </c:strRef>
          </c:cat>
          <c:val>
            <c:numRef>
              <c:f>Sheet1!$B$2:$B$3</c:f>
              <c:numCache>
                <c:formatCode>General</c:formatCode>
                <c:ptCount val="2"/>
                <c:pt idx="0">
                  <c:v>16.2</c:v>
                </c:pt>
                <c:pt idx="1">
                  <c:v>5.8</c:v>
                </c:pt>
              </c:numCache>
            </c:numRef>
          </c:val>
          <c:extLst>
            <c:ext xmlns:c16="http://schemas.microsoft.com/office/drawing/2014/chart" uri="{C3380CC4-5D6E-409C-BE32-E72D297353CC}">
              <c16:uniqueId val="{00000000-69BF-4F41-8425-762EA65513DD}"/>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CF"/>
                </a:solidFill>
                <a:latin typeface="+mn-lt"/>
              </a:defRPr>
            </a:pPr>
            <a:endParaRPr lang="en-US"/>
          </a:p>
        </c:txPr>
        <c:crossAx val="2094734552"/>
        <c:crosses val="autoZero"/>
        <c:auto val="1"/>
        <c:lblAlgn val="ctr"/>
        <c:lblOffset val="100"/>
        <c:noMultiLvlLbl val="1"/>
      </c:catAx>
      <c:valAx>
        <c:axId val="2094734552"/>
        <c:scaling>
          <c:orientation val="minMax"/>
          <c:max val="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963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HOOK. Picture a Mumbai officer on Monday morning. There are 36 monitoring stations, a handful of inspection teams, and one question: where do we send them this week? Right now the answer is usually gut feeling or whoever complained loudest. We built CityPulse to make that decision faster, fairer and explainable. (Slow down, make eye contact.)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0:25-0:50. THE PROBLEM. Air quality here swings hard. Our data shows an average station-day AQI of about 64 in the monsoon and about 185 in winter. Mazgaon averages 153 while Borivali East averages 89. So where you look matters, and when you look matters. Officers need a ranking they can trust and defend, not another dashboard of raw numbers.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slide. 597,912 deduplicated hourly AQI records from 36 CPCB/MPCB stations (Jan 2021 to Dec 2023), plus 26,280 hourly weather observations from Open-Meteo. Licences: CPCB government open data (NDSAP), Open-Meteo CC BY 4.0, OpenStreetMap ODbL. Provenance is in the Audit tab and DATA_SOURCES.md. We rejected OpenAQ v3 because it needs an API key and would break reproducibility from a fresh clone. Likely judge question: 'Is it licensed?' - answer from this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0:50-1:40 (part 1). CityPulse ranks every zone with a five-part priority score: current exposure, how persistent the problem is, which way it is trending, the forecast risk of a severe day, and a vulnerability gap for under-monitored places. These are the default weights; the officer can change them. Workflow is Discover, Predict, Explain, 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tab 1 (Priority Rankings). The officer sets a capacity, say 5 zones, and the top 5 are flagged. The Immediate Municipal Action Queue shows each flagged zone with its score and a suggested intervention. The leaderboard and the spatial priority map show the same ranking. Note: this is a historical replay (data through 30 Dec 2023), not a live alert.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waterfall (your strongest visual). A waterfall chart shows how each criterion contributed to the zone's score, so every rank can be explained and audited. Below it, the action dossier gives a rule-based suggestion such as wet suppression or mechanical sweeping, with the evidence basis and operational caveats. Stay on this slide a little longer.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tabs 2-4. A what-if simulator lets the officer change the weights and runs 500 Monte Carlo trials to show which zones stay in the top list no matter what. A route planner turns the flagged zones into a field tour with distances. One click exports a printable weekly briefing. Use the live app here; for the route planner, select a top-5 set so the tour shows several stops.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1:40-2:00. WHAT THE DATA TOLD US. Wind matters. Wind speed and AQI correlate at about minus 0.25, and severe days above 200 happen on 16.2 percent of station-days in the calmest wind quintile versus 5.8 percent in the windiest. We flag that season and location may confound this, so we treat it as a signal, not proof. Seasonal means: 63.9 (monsoon) and 185.0 (winter).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2:00-2:35. YOUR CREDIBILITY MOMENT. We tested on a strict time split: train on earlier years, test forward, no shuffling. For next-day AQI, yesterday's value is a very hard baseline. On the 2023 holdout, persistence has MAE 19.42, Ridge 19.58, gradient boosting 20.35. None of our point forecasters beat it on MAE (Ridge is slightly better on RMSE, 28.65 vs 30.38). Where ML helps is risk screening: for severe days above 200, recall is 0.87 versus 0.72 for persistence, with PR-AUC 0.81 and ROC-AUC 0.95. The trade-off is lower precision, 0.59 versus 0.72: it catches more severe days at the cost of more false alarms. We also backtest the decision itself: simulated weekly inspection cycles show double-digit lift over random allocation (CHECK the exact figure on Tab 8 and say it here). Speak the numbers slowly: 0.87 vs 0.72; 19.42.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2:35-2:50. RESPONSIBLE USE. CityPulse is a screening and triage tool. It tells you where to look first, not who to punish. It should guide physical inspections, never serve as the sole basis for enforcement. Stations are point measurements and cluster along highways, so coverage is uneven, and we say that up front. Also say: the app replays history through 30 Dec 2023; it is not a live alert. The Diwali 2023 case study shows no clear effect and carries an explicit non-causal caveat. Judge question on intervals: nominal 80% reached about 74% coverage, so they are not perfectly calibrated.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CLOSE. CityPulse does not claim to out-predict yesterday. It claims something more useful: that limited resources should go where the evidence points, and that every ranking should come with its reasons. Thank you. We would love your questions. Prepare for Q&amp;A using the Likely judge questions page of the pitch script.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_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P_CLOS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8046720" cy="17373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citypulseaweb.streamlit.ap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s://citypulseaweb.streamlit.app/"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github.com/RishiBuilds/CityPu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747910" y="455090"/>
            <a:ext cx="6562579" cy="365760"/>
          </a:xfrm>
          <a:prstGeom prst="rect">
            <a:avLst/>
          </a:prstGeom>
          <a:noFill/>
          <a:ln/>
        </p:spPr>
        <p:txBody>
          <a:bodyPr wrap="square" lIns="0" tIns="0" rIns="0" bIns="0" rtlCol="0" anchor="t"/>
          <a:lstStyle/>
          <a:p>
            <a:pPr marL="0" indent="0">
              <a:buNone/>
            </a:pPr>
            <a:r>
              <a:rPr lang="en-US" sz="1600" b="1" kern="0" spc="200" dirty="0">
                <a:solidFill>
                  <a:schemeClr val="accent2"/>
                </a:solidFill>
                <a:latin typeface="Times New Roman" panose="02020603050405020304" pitchFamily="18" charset="0"/>
                <a:cs typeface="Times New Roman" panose="02020603050405020304" pitchFamily="18" charset="0"/>
              </a:rPr>
              <a:t>HACKAMATCH 1.0  ·  DATA MAVERICKS × NSDC</a:t>
            </a:r>
            <a:endParaRPr lang="en-US" sz="1600" dirty="0">
              <a:latin typeface="Times New Roman" panose="02020603050405020304" pitchFamily="18" charset="0"/>
              <a:cs typeface="Times New Roman" panose="02020603050405020304" pitchFamily="18" charset="0"/>
            </a:endParaRPr>
          </a:p>
        </p:txBody>
      </p:sp>
      <p:sp>
        <p:nvSpPr>
          <p:cNvPr id="3" name="Text 0"/>
          <p:cNvSpPr>
            <a:spLocks noGrp="1"/>
          </p:cNvSpPr>
          <p:nvPr>
            <p:ph type="title" idx="100" hasCustomPrompt="1"/>
          </p:nvPr>
        </p:nvSpPr>
        <p:spPr>
          <a:xfrm>
            <a:off x="189914" y="1335024"/>
            <a:ext cx="4811854" cy="887671"/>
          </a:xfrm>
          <a:prstGeom prst="rect">
            <a:avLst/>
          </a:prstGeom>
          <a:noFill/>
          <a:ln/>
        </p:spPr>
        <p:txBody>
          <a:bodyPr wrap="square" lIns="0" tIns="0" rIns="0" bIns="0" rtlCol="0" anchor="t"/>
          <a:lstStyle/>
          <a:p>
            <a:pPr marL="0" indent="0" algn="l">
              <a:buNone/>
            </a:pPr>
            <a:r>
              <a:rPr lang="en-US" b="1" dirty="0">
                <a:solidFill>
                  <a:schemeClr val="bg1"/>
                </a:solidFill>
                <a:latin typeface="Times New Roman" panose="02020603050405020304" pitchFamily="18" charset="0"/>
                <a:cs typeface="Times New Roman" panose="02020603050405020304" pitchFamily="18" charset="0"/>
              </a:rPr>
              <a:t>City Pulse:</a:t>
            </a:r>
            <a:r>
              <a:rPr lang="en-US" dirty="0">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Mumbai</a:t>
            </a:r>
            <a:endParaRPr lang="en-US" dirty="0">
              <a:latin typeface="Times New Roman" panose="02020603050405020304" pitchFamily="18" charset="0"/>
              <a:cs typeface="Times New Roman" panose="02020603050405020304" pitchFamily="18" charset="0"/>
            </a:endParaRPr>
          </a:p>
        </p:txBody>
      </p:sp>
      <p:sp>
        <p:nvSpPr>
          <p:cNvPr id="4" name="Text 2"/>
          <p:cNvSpPr txBox="1"/>
          <p:nvPr/>
        </p:nvSpPr>
        <p:spPr>
          <a:xfrm>
            <a:off x="566928" y="2325389"/>
            <a:ext cx="4297680" cy="822960"/>
          </a:xfrm>
          <a:prstGeom prst="rect">
            <a:avLst/>
          </a:prstGeom>
          <a:noFill/>
          <a:ln/>
        </p:spPr>
        <p:txBody>
          <a:bodyPr wrap="square" lIns="0" tIns="0" rIns="0" bIns="0" rtlCol="0" anchor="t"/>
          <a:lstStyle/>
          <a:p>
            <a:pPr marL="0" indent="0">
              <a:buNone/>
            </a:pPr>
            <a:r>
              <a:rPr lang="en-US" sz="2000" b="1" dirty="0">
                <a:solidFill>
                  <a:schemeClr val="bg2"/>
                </a:solidFill>
                <a:latin typeface="Times New Roman" panose="02020603050405020304" pitchFamily="18" charset="0"/>
                <a:cs typeface="Times New Roman" panose="02020603050405020304" pitchFamily="18" charset="0"/>
              </a:rPr>
              <a:t>Where should limited inspection teams go this week, and why?</a:t>
            </a:r>
            <a:endParaRPr lang="en-US" sz="2000" b="1" dirty="0">
              <a:latin typeface="Times New Roman" panose="02020603050405020304" pitchFamily="18" charset="0"/>
              <a:cs typeface="Times New Roman" panose="02020603050405020304" pitchFamily="18" charset="0"/>
            </a:endParaRPr>
          </a:p>
        </p:txBody>
      </p:sp>
      <p:sp>
        <p:nvSpPr>
          <p:cNvPr id="5" name="Text 3"/>
          <p:cNvSpPr txBox="1"/>
          <p:nvPr/>
        </p:nvSpPr>
        <p:spPr>
          <a:xfrm>
            <a:off x="429768" y="3607483"/>
            <a:ext cx="4572000" cy="274320"/>
          </a:xfrm>
          <a:prstGeom prst="rect">
            <a:avLst/>
          </a:prstGeom>
          <a:noFill/>
          <a:ln/>
        </p:spPr>
        <p:txBody>
          <a:bodyPr wrap="square" lIns="0" tIns="0" rIns="0" bIns="0" rtlCol="0" anchor="t"/>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Ratnesh Pathak  ·  Rishi Chaurasiya  ·  Shreya Pandey</a:t>
            </a:r>
            <a:endParaRPr lang="en-US" sz="1400" dirty="0">
              <a:latin typeface="Times New Roman" panose="02020603050405020304" pitchFamily="18" charset="0"/>
              <a:cs typeface="Times New Roman" panose="02020603050405020304" pitchFamily="18" charset="0"/>
            </a:endParaRPr>
          </a:p>
        </p:txBody>
      </p:sp>
      <p:sp>
        <p:nvSpPr>
          <p:cNvPr id="6" name="Text 4"/>
          <p:cNvSpPr txBox="1"/>
          <p:nvPr/>
        </p:nvSpPr>
        <p:spPr>
          <a:xfrm>
            <a:off x="429768" y="4251960"/>
            <a:ext cx="4572000" cy="2743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Decision-support prototype. Not an official warning system.</a:t>
            </a:r>
            <a:endParaRPr lang="en-US" sz="1400" dirty="0">
              <a:latin typeface="Times New Roman" panose="02020603050405020304" pitchFamily="18" charset="0"/>
              <a:cs typeface="Times New Roman" panose="02020603050405020304" pitchFamily="18" charset="0"/>
            </a:endParaRPr>
          </a:p>
        </p:txBody>
      </p:sp>
      <p:sp>
        <p:nvSpPr>
          <p:cNvPr id="7" name="Spatial priority map of Mumbai stations frame"/>
          <p:cNvSpPr/>
          <p:nvPr/>
        </p:nvSpPr>
        <p:spPr>
          <a:xfrm>
            <a:off x="5120640" y="978408"/>
            <a:ext cx="3593592" cy="3044952"/>
          </a:xfrm>
          <a:prstGeom prst="roundRect">
            <a:avLst>
              <a:gd name="adj" fmla="val 2402"/>
            </a:avLst>
          </a:prstGeom>
          <a:solidFill>
            <a:schemeClr val="tx2"/>
          </a:solidFill>
          <a:ln w="9525">
            <a:solidFill>
              <a:srgbClr val="2A3750"/>
            </a:solidFill>
            <a:prstDash val="solid"/>
          </a:ln>
        </p:spPr>
      </p:sp>
      <p:pic>
        <p:nvPicPr>
          <p:cNvPr id="8" name="Spatial priority map of Mumbai stations" descr="Spatial priority map of Mumbai stations"/>
          <p:cNvPicPr>
            <a:picLocks noChangeAspect="1"/>
          </p:cNvPicPr>
          <p:nvPr/>
        </p:nvPicPr>
        <p:blipFill>
          <a:blip r:embed="rId3"/>
          <a:stretch>
            <a:fillRect/>
          </a:stretch>
        </p:blipFill>
        <p:spPr>
          <a:xfrm>
            <a:off x="5226148" y="1051560"/>
            <a:ext cx="3414932" cy="2898648"/>
          </a:xfrm>
          <a:prstGeom prst="rect">
            <a:avLst/>
          </a:prstGeom>
        </p:spPr>
      </p:pic>
      <p:sp>
        <p:nvSpPr>
          <p:cNvPr id="9" name="Text 6"/>
          <p:cNvSpPr txBox="1"/>
          <p:nvPr/>
        </p:nvSpPr>
        <p:spPr>
          <a:xfrm>
            <a:off x="5074920" y="4251960"/>
            <a:ext cx="3566160" cy="274320"/>
          </a:xfrm>
          <a:prstGeom prst="rect">
            <a:avLst/>
          </a:prstGeom>
          <a:noFill/>
          <a:ln/>
        </p:spPr>
        <p:txBody>
          <a:bodyPr wrap="square" lIns="0" tIns="0" rIns="0" bIns="0" rtlCol="0" anchor="t"/>
          <a:lstStyle/>
          <a:p>
            <a:pPr marL="0" indent="0" algn="ctr">
              <a:buNone/>
            </a:pPr>
            <a:r>
              <a:rPr lang="en-US" sz="1400" b="1" dirty="0">
                <a:solidFill>
                  <a:schemeClr val="accent1"/>
                </a:solidFill>
                <a:latin typeface="Times New Roman" panose="02020603050405020304" pitchFamily="18" charset="0"/>
                <a:cs typeface="Times New Roman" panose="02020603050405020304" pitchFamily="18" charset="0"/>
              </a:rPr>
              <a:t>Live: </a:t>
            </a:r>
            <a:r>
              <a:rPr lang="en-US" sz="1400" b="1" dirty="0">
                <a:solidFill>
                  <a:schemeClr val="accent1"/>
                </a:solidFill>
                <a:latin typeface="Times New Roman" panose="02020603050405020304" pitchFamily="18" charset="0"/>
                <a:cs typeface="Times New Roman" panose="02020603050405020304" pitchFamily="18" charset="0"/>
                <a:hlinkClick r:id="rId4"/>
              </a:rPr>
              <a:t>citypulse-mumbai.streamlit.app</a:t>
            </a:r>
            <a:endParaRPr lang="en-US" sz="1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760220" y="209257"/>
            <a:ext cx="5421337"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Where do we send the teams?</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800" dirty="0">
                <a:solidFill>
                  <a:schemeClr val="bg2"/>
                </a:solidFill>
                <a:latin typeface="Times New Roman" panose="02020603050405020304" pitchFamily="18" charset="0"/>
                <a:cs typeface="Times New Roman" panose="02020603050405020304" pitchFamily="18" charset="0"/>
              </a:rPr>
              <a:t>A Mumbai officer, Monday morning: 36 stations, a handful of inspection teams, one question.</a:t>
            </a:r>
            <a:endParaRPr lang="en-US" sz="1800" dirty="0">
              <a:latin typeface="Times New Roman" panose="02020603050405020304" pitchFamily="18" charset="0"/>
              <a:cs typeface="Times New Roman" panose="02020603050405020304" pitchFamily="18" charset="0"/>
            </a:endParaRPr>
          </a:p>
        </p:txBody>
      </p:sp>
      <p:sp>
        <p:nvSpPr>
          <p:cNvPr id="4" name="stat card 64 → 185"/>
          <p:cNvSpPr/>
          <p:nvPr/>
        </p:nvSpPr>
        <p:spPr>
          <a:xfrm>
            <a:off x="457200" y="1828800"/>
            <a:ext cx="2606040" cy="1737360"/>
          </a:xfrm>
          <a:prstGeom prst="roundRect">
            <a:avLst>
              <a:gd name="adj" fmla="val 4211"/>
            </a:avLst>
          </a:prstGeom>
          <a:solidFill>
            <a:schemeClr val="tx2"/>
          </a:solidFill>
          <a:ln w="9525">
            <a:solidFill>
              <a:srgbClr val="2A3750"/>
            </a:solidFill>
            <a:prstDash val="solid"/>
          </a:ln>
        </p:spPr>
      </p:sp>
      <p:sp>
        <p:nvSpPr>
          <p:cNvPr id="5" name="Text 3"/>
          <p:cNvSpPr txBox="1"/>
          <p:nvPr/>
        </p:nvSpPr>
        <p:spPr>
          <a:xfrm>
            <a:off x="640080" y="1920240"/>
            <a:ext cx="2240280" cy="640080"/>
          </a:xfrm>
          <a:prstGeom prst="rect">
            <a:avLst/>
          </a:prstGeom>
          <a:noFill/>
          <a:ln/>
        </p:spPr>
        <p:txBody>
          <a:bodyPr wrap="square" lIns="0" tIns="0" rIns="0" bIns="0" rtlCol="0" anchor="ctr"/>
          <a:lstStyle/>
          <a:p>
            <a:pPr marL="0" indent="0">
              <a:buNone/>
            </a:pPr>
            <a:r>
              <a:rPr lang="en-US" sz="3400" b="1" dirty="0">
                <a:solidFill>
                  <a:schemeClr val="accent2"/>
                </a:solidFill>
                <a:latin typeface="Times New Roman" panose="02020603050405020304" pitchFamily="18" charset="0"/>
                <a:ea typeface="+mj-lt" pitchFamily="34" charset="-122"/>
                <a:cs typeface="Times New Roman" panose="02020603050405020304" pitchFamily="18" charset="0"/>
              </a:rPr>
              <a:t>64 → 185</a:t>
            </a:r>
            <a:endParaRPr lang="en-US" sz="3400" dirty="0">
              <a:latin typeface="Times New Roman" panose="02020603050405020304" pitchFamily="18" charset="0"/>
              <a:cs typeface="Times New Roman" panose="02020603050405020304" pitchFamily="18" charset="0"/>
            </a:endParaRPr>
          </a:p>
        </p:txBody>
      </p:sp>
      <p:sp>
        <p:nvSpPr>
          <p:cNvPr id="6" name="Text 4"/>
          <p:cNvSpPr txBox="1"/>
          <p:nvPr/>
        </p:nvSpPr>
        <p:spPr>
          <a:xfrm>
            <a:off x="640080" y="2651760"/>
            <a:ext cx="2240280" cy="841248"/>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Mean station-day AQI: monsoon (Jun–Sep) vs winter (Dec–Feb)</a:t>
            </a:r>
            <a:endParaRPr lang="en-US" sz="1400" dirty="0">
              <a:latin typeface="Times New Roman" panose="02020603050405020304" pitchFamily="18" charset="0"/>
              <a:cs typeface="Times New Roman" panose="02020603050405020304" pitchFamily="18" charset="0"/>
            </a:endParaRPr>
          </a:p>
        </p:txBody>
      </p:sp>
      <p:sp>
        <p:nvSpPr>
          <p:cNvPr id="7" name="stat card 153 vs 89"/>
          <p:cNvSpPr/>
          <p:nvPr/>
        </p:nvSpPr>
        <p:spPr>
          <a:xfrm>
            <a:off x="3268980" y="1828800"/>
            <a:ext cx="2606040" cy="1737360"/>
          </a:xfrm>
          <a:prstGeom prst="roundRect">
            <a:avLst>
              <a:gd name="adj" fmla="val 4211"/>
            </a:avLst>
          </a:prstGeom>
          <a:solidFill>
            <a:schemeClr val="tx2"/>
          </a:solidFill>
          <a:ln w="9525">
            <a:solidFill>
              <a:srgbClr val="2A3750"/>
            </a:solidFill>
            <a:prstDash val="solid"/>
          </a:ln>
        </p:spPr>
      </p:sp>
      <p:sp>
        <p:nvSpPr>
          <p:cNvPr id="8" name="Text 6"/>
          <p:cNvSpPr txBox="1"/>
          <p:nvPr/>
        </p:nvSpPr>
        <p:spPr>
          <a:xfrm>
            <a:off x="3451860" y="1920240"/>
            <a:ext cx="2240280" cy="640080"/>
          </a:xfrm>
          <a:prstGeom prst="rect">
            <a:avLst/>
          </a:prstGeom>
          <a:noFill/>
          <a:ln/>
        </p:spPr>
        <p:txBody>
          <a:bodyPr wrap="square" lIns="0" tIns="0" rIns="0" bIns="0" rtlCol="0" anchor="ctr"/>
          <a:lstStyle/>
          <a:p>
            <a:pPr marL="0" indent="0">
              <a:buNone/>
            </a:pPr>
            <a:r>
              <a:rPr lang="en-US" sz="3400" b="1" dirty="0">
                <a:solidFill>
                  <a:schemeClr val="accent3"/>
                </a:solidFill>
                <a:latin typeface="Times New Roman" panose="02020603050405020304" pitchFamily="18" charset="0"/>
                <a:ea typeface="+mj-lt" pitchFamily="34" charset="-122"/>
                <a:cs typeface="Times New Roman" panose="02020603050405020304" pitchFamily="18" charset="0"/>
              </a:rPr>
              <a:t>153 vs 89</a:t>
            </a:r>
            <a:endParaRPr lang="en-US" sz="3400" dirty="0">
              <a:latin typeface="Times New Roman" panose="02020603050405020304" pitchFamily="18" charset="0"/>
              <a:cs typeface="Times New Roman" panose="02020603050405020304" pitchFamily="18" charset="0"/>
            </a:endParaRPr>
          </a:p>
        </p:txBody>
      </p:sp>
      <p:sp>
        <p:nvSpPr>
          <p:cNvPr id="9" name="Text 7"/>
          <p:cNvSpPr txBox="1"/>
          <p:nvPr/>
        </p:nvSpPr>
        <p:spPr>
          <a:xfrm>
            <a:off x="3451860" y="2651760"/>
            <a:ext cx="2240280" cy="841248"/>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Average AQI: Mazgaon vs Borivali East. Where you look matters.</a:t>
            </a:r>
            <a:endParaRPr lang="en-US" sz="1400" dirty="0">
              <a:latin typeface="Times New Roman" panose="02020603050405020304" pitchFamily="18" charset="0"/>
              <a:cs typeface="Times New Roman" panose="02020603050405020304" pitchFamily="18" charset="0"/>
            </a:endParaRPr>
          </a:p>
        </p:txBody>
      </p:sp>
      <p:sp>
        <p:nvSpPr>
          <p:cNvPr id="10" name="stat card 36"/>
          <p:cNvSpPr/>
          <p:nvPr/>
        </p:nvSpPr>
        <p:spPr>
          <a:xfrm>
            <a:off x="6080760" y="1828800"/>
            <a:ext cx="2606040" cy="1737360"/>
          </a:xfrm>
          <a:prstGeom prst="roundRect">
            <a:avLst>
              <a:gd name="adj" fmla="val 4211"/>
            </a:avLst>
          </a:prstGeom>
          <a:solidFill>
            <a:schemeClr val="tx2"/>
          </a:solidFill>
          <a:ln w="9525">
            <a:solidFill>
              <a:srgbClr val="2A3750"/>
            </a:solidFill>
            <a:prstDash val="solid"/>
          </a:ln>
        </p:spPr>
      </p:sp>
      <p:sp>
        <p:nvSpPr>
          <p:cNvPr id="11" name="Text 9"/>
          <p:cNvSpPr txBox="1"/>
          <p:nvPr/>
        </p:nvSpPr>
        <p:spPr>
          <a:xfrm>
            <a:off x="6263640" y="1920240"/>
            <a:ext cx="2240280" cy="640080"/>
          </a:xfrm>
          <a:prstGeom prst="rect">
            <a:avLst/>
          </a:prstGeom>
          <a:noFill/>
          <a:ln/>
        </p:spPr>
        <p:txBody>
          <a:bodyPr wrap="square" lIns="0" tIns="0" rIns="0" bIns="0" rtlCol="0" anchor="ctr"/>
          <a:lstStyle/>
          <a:p>
            <a:pPr marL="0" indent="0">
              <a:buNone/>
            </a:pPr>
            <a:r>
              <a:rPr lang="en-US" sz="3400" b="1" dirty="0">
                <a:solidFill>
                  <a:schemeClr val="accent1"/>
                </a:solidFill>
                <a:latin typeface="Times New Roman" panose="02020603050405020304" pitchFamily="18" charset="0"/>
                <a:ea typeface="+mj-lt" pitchFamily="34" charset="-122"/>
                <a:cs typeface="Times New Roman" panose="02020603050405020304" pitchFamily="18" charset="0"/>
              </a:rPr>
              <a:t>36</a:t>
            </a:r>
            <a:endParaRPr lang="en-US" sz="34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6263640" y="2651760"/>
            <a:ext cx="2240280" cy="841248"/>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CAAQMS stations, one weekly allocation decision</a:t>
            </a:r>
            <a:endParaRPr lang="en-US" sz="14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822960" y="3840480"/>
            <a:ext cx="7680960" cy="640080"/>
          </a:xfrm>
          <a:prstGeom prst="rect">
            <a:avLst/>
          </a:prstGeom>
          <a:noFill/>
          <a:ln/>
        </p:spPr>
        <p:txBody>
          <a:bodyPr wrap="square" lIns="0" tIns="0" rIns="0" bIns="0" rtlCol="0" anchor="t"/>
          <a:lstStyle/>
          <a:p>
            <a:pPr marL="0" indent="0">
              <a:buNone/>
            </a:pPr>
            <a:r>
              <a:rPr lang="en-US" sz="1800" b="1" dirty="0">
                <a:solidFill>
                  <a:schemeClr val="bg1"/>
                </a:solidFill>
                <a:latin typeface="Times New Roman" panose="02020603050405020304" pitchFamily="18" charset="0"/>
                <a:cs typeface="Times New Roman" panose="02020603050405020304" pitchFamily="18" charset="0"/>
              </a:rPr>
              <a:t>Officers need a ranking they can trust and defend, not another dashboard of raw numbers.</a:t>
            </a:r>
            <a:endParaRPr lang="en-US" sz="18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06769" y="274320"/>
            <a:ext cx="6189785"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Open data only, fully reproducible</a:t>
            </a:r>
            <a:endParaRPr lang="en-US" sz="3200" dirty="0">
              <a:latin typeface="Times New Roman" panose="02020603050405020304" pitchFamily="18" charset="0"/>
              <a:cs typeface="Times New Roman" panose="02020603050405020304" pitchFamily="18" charset="0"/>
            </a:endParaRPr>
          </a:p>
        </p:txBody>
      </p:sp>
      <p:sp>
        <p:nvSpPr>
          <p:cNvPr id="3" name="stat card 597,912"/>
          <p:cNvSpPr/>
          <p:nvPr/>
        </p:nvSpPr>
        <p:spPr>
          <a:xfrm>
            <a:off x="457200" y="1188720"/>
            <a:ext cx="2743200" cy="1143000"/>
          </a:xfrm>
          <a:prstGeom prst="roundRect">
            <a:avLst>
              <a:gd name="adj" fmla="val 6400"/>
            </a:avLst>
          </a:prstGeom>
          <a:solidFill>
            <a:schemeClr val="tx2"/>
          </a:solidFill>
          <a:ln w="9525">
            <a:solidFill>
              <a:srgbClr val="2A3750"/>
            </a:solidFill>
            <a:prstDash val="solid"/>
          </a:ln>
        </p:spPr>
      </p:sp>
      <p:sp>
        <p:nvSpPr>
          <p:cNvPr id="4" name="Text 2"/>
          <p:cNvSpPr txBox="1"/>
          <p:nvPr/>
        </p:nvSpPr>
        <p:spPr>
          <a:xfrm>
            <a:off x="640080" y="1280160"/>
            <a:ext cx="2377440" cy="457200"/>
          </a:xfrm>
          <a:prstGeom prst="rect">
            <a:avLst/>
          </a:prstGeom>
          <a:noFill/>
          <a:ln/>
        </p:spPr>
        <p:txBody>
          <a:bodyPr wrap="square" lIns="0" tIns="0" rIns="0" bIns="0" rtlCol="0" anchor="ctr"/>
          <a:lstStyle/>
          <a:p>
            <a:pPr marL="0" indent="0">
              <a:buNone/>
            </a:pPr>
            <a:r>
              <a:rPr lang="en-US" sz="3000" b="1" dirty="0">
                <a:solidFill>
                  <a:schemeClr val="accent1"/>
                </a:solidFill>
                <a:latin typeface="Times New Roman" panose="02020603050405020304" pitchFamily="18" charset="0"/>
                <a:ea typeface="+mj-lt" pitchFamily="34" charset="-122"/>
                <a:cs typeface="Times New Roman" panose="02020603050405020304" pitchFamily="18" charset="0"/>
              </a:rPr>
              <a:t>597,912</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640080" y="1755648"/>
            <a:ext cx="237744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hourly AQI records, 36 stations (2021–2023)</a:t>
            </a:r>
            <a:endParaRPr lang="en-US" sz="1400" dirty="0">
              <a:latin typeface="Times New Roman" panose="02020603050405020304" pitchFamily="18" charset="0"/>
              <a:cs typeface="Times New Roman" panose="02020603050405020304" pitchFamily="18" charset="0"/>
            </a:endParaRPr>
          </a:p>
        </p:txBody>
      </p:sp>
      <p:sp>
        <p:nvSpPr>
          <p:cNvPr id="6" name="stat card 26,280"/>
          <p:cNvSpPr/>
          <p:nvPr/>
        </p:nvSpPr>
        <p:spPr>
          <a:xfrm>
            <a:off x="457200" y="2468880"/>
            <a:ext cx="2743200" cy="1143000"/>
          </a:xfrm>
          <a:prstGeom prst="roundRect">
            <a:avLst>
              <a:gd name="adj" fmla="val 6400"/>
            </a:avLst>
          </a:prstGeom>
          <a:solidFill>
            <a:schemeClr val="tx2"/>
          </a:solidFill>
          <a:ln w="9525">
            <a:solidFill>
              <a:srgbClr val="2A3750"/>
            </a:solidFill>
            <a:prstDash val="solid"/>
          </a:ln>
        </p:spPr>
      </p:sp>
      <p:sp>
        <p:nvSpPr>
          <p:cNvPr id="7" name="Text 5"/>
          <p:cNvSpPr txBox="1"/>
          <p:nvPr/>
        </p:nvSpPr>
        <p:spPr>
          <a:xfrm>
            <a:off x="640080" y="2560320"/>
            <a:ext cx="2377440" cy="457200"/>
          </a:xfrm>
          <a:prstGeom prst="rect">
            <a:avLst/>
          </a:prstGeom>
          <a:noFill/>
          <a:ln/>
        </p:spPr>
        <p:txBody>
          <a:bodyPr wrap="square" lIns="0" tIns="0" rIns="0" bIns="0" rtlCol="0" anchor="ctr"/>
          <a:lstStyle/>
          <a:p>
            <a:pPr marL="0" indent="0">
              <a:buNone/>
            </a:pPr>
            <a:r>
              <a:rPr lang="en-US" sz="3000" b="1" dirty="0">
                <a:solidFill>
                  <a:schemeClr val="accent4"/>
                </a:solidFill>
                <a:latin typeface="Times New Roman" panose="02020603050405020304" pitchFamily="18" charset="0"/>
                <a:ea typeface="+mj-lt" pitchFamily="34" charset="-122"/>
                <a:cs typeface="Times New Roman" panose="02020603050405020304" pitchFamily="18" charset="0"/>
              </a:rPr>
              <a:t>26,280</a:t>
            </a:r>
            <a:endParaRPr lang="en-US" sz="3000" dirty="0">
              <a:latin typeface="Times New Roman" panose="02020603050405020304" pitchFamily="18" charset="0"/>
              <a:cs typeface="Times New Roman" panose="02020603050405020304" pitchFamily="18" charset="0"/>
            </a:endParaRPr>
          </a:p>
        </p:txBody>
      </p:sp>
      <p:sp>
        <p:nvSpPr>
          <p:cNvPr id="8" name="Text 6"/>
          <p:cNvSpPr txBox="1"/>
          <p:nvPr/>
        </p:nvSpPr>
        <p:spPr>
          <a:xfrm>
            <a:off x="640080" y="3035808"/>
            <a:ext cx="237744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hourly weather observations (Open-Meteo)</a:t>
            </a:r>
            <a:endParaRPr lang="en-US" sz="1400" dirty="0">
              <a:latin typeface="Times New Roman" panose="02020603050405020304" pitchFamily="18" charset="0"/>
              <a:cs typeface="Times New Roman" panose="02020603050405020304" pitchFamily="18" charset="0"/>
            </a:endParaRPr>
          </a:p>
        </p:txBody>
      </p:sp>
      <p:sp>
        <p:nvSpPr>
          <p:cNvPr id="9" name="no keys card"/>
          <p:cNvSpPr/>
          <p:nvPr/>
        </p:nvSpPr>
        <p:spPr>
          <a:xfrm>
            <a:off x="457200" y="3749040"/>
            <a:ext cx="2743200" cy="822960"/>
          </a:xfrm>
          <a:prstGeom prst="roundRect">
            <a:avLst>
              <a:gd name="adj" fmla="val 8889"/>
            </a:avLst>
          </a:prstGeom>
          <a:solidFill>
            <a:schemeClr val="tx2"/>
          </a:solidFill>
          <a:ln w="9525">
            <a:solidFill>
              <a:srgbClr val="2A3750"/>
            </a:solidFill>
            <a:prstDash val="solid"/>
          </a:ln>
        </p:spPr>
      </p:sp>
      <p:sp>
        <p:nvSpPr>
          <p:cNvPr id="10" name="Text 8"/>
          <p:cNvSpPr txBox="1"/>
          <p:nvPr/>
        </p:nvSpPr>
        <p:spPr>
          <a:xfrm>
            <a:off x="640080" y="3794760"/>
            <a:ext cx="2377440" cy="731520"/>
          </a:xfrm>
          <a:prstGeom prst="rect">
            <a:avLst/>
          </a:prstGeom>
          <a:noFill/>
          <a:ln/>
        </p:spPr>
        <p:txBody>
          <a:bodyPr wrap="square" lIns="0" tIns="0" rIns="0" bIns="0" rtlCol="0" anchor="ctr"/>
          <a:lstStyle/>
          <a:p>
            <a:pPr marL="0" indent="0">
              <a:buNone/>
            </a:pPr>
            <a:r>
              <a:rPr lang="en-US" sz="1400" b="1" dirty="0">
                <a:solidFill>
                  <a:schemeClr val="bg1"/>
                </a:solidFill>
                <a:latin typeface="Times New Roman" panose="02020603050405020304" pitchFamily="18" charset="0"/>
                <a:cs typeface="Times New Roman" panose="02020603050405020304" pitchFamily="18" charset="0"/>
              </a:rPr>
              <a:t>No API keys. No synthetic data. Runs from a fresh clone.</a:t>
            </a:r>
            <a:endParaRPr lang="en-US" sz="1400" dirty="0">
              <a:latin typeface="Times New Roman" panose="02020603050405020304" pitchFamily="18" charset="0"/>
              <a:cs typeface="Times New Roman" panose="02020603050405020304" pitchFamily="18" charset="0"/>
            </a:endParaRPr>
          </a:p>
        </p:txBody>
      </p:sp>
      <p:sp>
        <p:nvSpPr>
          <p:cNvPr id="11" name="Data sources and licence audit from the app frame"/>
          <p:cNvSpPr/>
          <p:nvPr/>
        </p:nvSpPr>
        <p:spPr>
          <a:xfrm>
            <a:off x="3538728" y="1207008"/>
            <a:ext cx="5175504" cy="2139696"/>
          </a:xfrm>
          <a:prstGeom prst="roundRect">
            <a:avLst>
              <a:gd name="adj" fmla="val 3419"/>
            </a:avLst>
          </a:prstGeom>
          <a:solidFill>
            <a:schemeClr val="tx2"/>
          </a:solidFill>
          <a:ln w="9525">
            <a:solidFill>
              <a:srgbClr val="2A3750"/>
            </a:solidFill>
            <a:prstDash val="solid"/>
          </a:ln>
        </p:spPr>
      </p:sp>
      <p:pic>
        <p:nvPicPr>
          <p:cNvPr id="12" name="Data sources and licence audit from the app" descr="Data sources and licence audit from the app"/>
          <p:cNvPicPr>
            <a:picLocks noChangeAspect="1"/>
          </p:cNvPicPr>
          <p:nvPr/>
        </p:nvPicPr>
        <p:blipFill>
          <a:blip r:embed="rId3"/>
          <a:stretch>
            <a:fillRect/>
          </a:stretch>
        </p:blipFill>
        <p:spPr>
          <a:xfrm>
            <a:off x="3611880" y="1280160"/>
            <a:ext cx="5029200" cy="1993392"/>
          </a:xfrm>
          <a:prstGeom prst="rect">
            <a:avLst/>
          </a:prstGeom>
        </p:spPr>
      </p:pic>
      <p:sp>
        <p:nvSpPr>
          <p:cNvPr id="13" name="Text 10"/>
          <p:cNvSpPr txBox="1"/>
          <p:nvPr/>
        </p:nvSpPr>
        <p:spPr>
          <a:xfrm>
            <a:off x="3657600" y="3685032"/>
            <a:ext cx="5029200" cy="633750"/>
          </a:xfrm>
          <a:prstGeom prst="rect">
            <a:avLst/>
          </a:prstGeom>
          <a:noFill/>
          <a:ln/>
        </p:spPr>
        <p:txBody>
          <a:bodyPr wrap="square" lIns="0" tIns="0" rIns="0" bIns="0" rtlCol="0" anchor="t"/>
          <a:lstStyle/>
          <a:p>
            <a:pPr marL="0" indent="0">
              <a:buNone/>
            </a:pPr>
            <a:r>
              <a:rPr lang="en-US" sz="1400" b="1" dirty="0">
                <a:solidFill>
                  <a:schemeClr val="bg2"/>
                </a:solidFill>
                <a:latin typeface="Times New Roman" panose="02020603050405020304" pitchFamily="18" charset="0"/>
                <a:cs typeface="Times New Roman" panose="02020603050405020304" pitchFamily="18" charset="0"/>
              </a:rPr>
              <a:t>OpenAQ was rejected: its API needs a key, which would break a fresh-clone run.</a:t>
            </a:r>
            <a:endParaRPr lang="en-US" sz="1400" b="1"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A transparent five-part score</a:t>
            </a:r>
            <a:endParaRPr lang="en-US" sz="3200" dirty="0">
              <a:latin typeface="Times New Roman" panose="02020603050405020304" pitchFamily="18" charset="0"/>
              <a:cs typeface="Times New Roman" panose="02020603050405020304" pitchFamily="18" charset="0"/>
            </a:endParaRPr>
          </a:p>
        </p:txBody>
      </p:sp>
      <p:sp>
        <p:nvSpPr>
          <p:cNvPr id="3" name="step circle Discover"/>
          <p:cNvSpPr/>
          <p:nvPr/>
        </p:nvSpPr>
        <p:spPr>
          <a:xfrm>
            <a:off x="457200" y="1234440"/>
            <a:ext cx="502920" cy="502920"/>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5" name="Text 3"/>
          <p:cNvSpPr txBox="1"/>
          <p:nvPr/>
        </p:nvSpPr>
        <p:spPr>
          <a:xfrm>
            <a:off x="1143000" y="1188720"/>
            <a:ext cx="3017520" cy="274320"/>
          </a:xfrm>
          <a:prstGeom prst="rect">
            <a:avLst/>
          </a:prstGeom>
          <a:noFill/>
          <a:ln/>
        </p:spPr>
        <p:txBody>
          <a:bodyPr wrap="square" lIns="0" tIns="0" rIns="0" bIns="0" rtlCol="0" anchor="t"/>
          <a:lstStyle/>
          <a:p>
            <a:pPr marL="0" indent="0">
              <a:buNone/>
            </a:pPr>
            <a:r>
              <a:rPr lang="en-US" sz="1800" b="1" dirty="0">
                <a:solidFill>
                  <a:schemeClr val="bg1"/>
                </a:solidFill>
                <a:latin typeface="Times New Roman" panose="02020603050405020304" pitchFamily="18" charset="0"/>
                <a:cs typeface="Times New Roman" panose="02020603050405020304" pitchFamily="18" charset="0"/>
              </a:rPr>
              <a:t>Discover</a:t>
            </a:r>
            <a:endParaRPr lang="en-US" sz="1800" dirty="0">
              <a:latin typeface="Times New Roman" panose="02020603050405020304" pitchFamily="18" charset="0"/>
              <a:cs typeface="Times New Roman" panose="02020603050405020304" pitchFamily="18" charset="0"/>
            </a:endParaRPr>
          </a:p>
        </p:txBody>
      </p:sp>
      <p:sp>
        <p:nvSpPr>
          <p:cNvPr id="6" name="Text 4"/>
          <p:cNvSpPr txBox="1"/>
          <p:nvPr/>
        </p:nvSpPr>
        <p:spPr>
          <a:xfrm>
            <a:off x="1143000" y="1481328"/>
            <a:ext cx="310896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Seasons, stations and wind show where and when air quality turns bad.</a:t>
            </a:r>
            <a:endParaRPr lang="en-US" sz="1400" dirty="0">
              <a:latin typeface="Times New Roman" panose="02020603050405020304" pitchFamily="18" charset="0"/>
              <a:cs typeface="Times New Roman" panose="02020603050405020304" pitchFamily="18" charset="0"/>
            </a:endParaRPr>
          </a:p>
        </p:txBody>
      </p:sp>
      <p:sp>
        <p:nvSpPr>
          <p:cNvPr id="7" name="step circle Predict"/>
          <p:cNvSpPr/>
          <p:nvPr/>
        </p:nvSpPr>
        <p:spPr>
          <a:xfrm>
            <a:off x="457200" y="2103120"/>
            <a:ext cx="502920" cy="502920"/>
          </a:xfrm>
          <a:prstGeom prst="ellipse">
            <a:avLst/>
          </a:prstGeom>
          <a:solidFill>
            <a:schemeClr val="accent6"/>
          </a:solidFill>
          <a:ln w="12700">
            <a:solidFill>
              <a:schemeClr val="accent6"/>
            </a:solidFill>
            <a:prstDash val="solid"/>
          </a:ln>
        </p:spPr>
      </p:sp>
      <p:sp>
        <p:nvSpPr>
          <p:cNvPr id="8" name="Text 6"/>
          <p:cNvSpPr txBox="1"/>
          <p:nvPr/>
        </p:nvSpPr>
        <p:spPr>
          <a:xfrm>
            <a:off x="457200" y="21031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9" name="Text 7"/>
          <p:cNvSpPr txBox="1"/>
          <p:nvPr/>
        </p:nvSpPr>
        <p:spPr>
          <a:xfrm>
            <a:off x="1143000" y="2057400"/>
            <a:ext cx="3017520" cy="274320"/>
          </a:xfrm>
          <a:prstGeom prst="rect">
            <a:avLst/>
          </a:prstGeom>
          <a:noFill/>
          <a:ln/>
        </p:spPr>
        <p:txBody>
          <a:bodyPr wrap="square" lIns="0" tIns="0" rIns="0" bIns="0" rtlCol="0" anchor="t"/>
          <a:lstStyle/>
          <a:p>
            <a:pPr marL="0" indent="0">
              <a:buNone/>
            </a:pPr>
            <a:r>
              <a:rPr lang="en-US" sz="1800" b="1" dirty="0">
                <a:solidFill>
                  <a:schemeClr val="bg1"/>
                </a:solidFill>
                <a:latin typeface="Times New Roman" panose="02020603050405020304" pitchFamily="18" charset="0"/>
                <a:cs typeface="Times New Roman" panose="02020603050405020304" pitchFamily="18" charset="0"/>
              </a:rPr>
              <a:t>Predict</a:t>
            </a:r>
            <a:endParaRPr lang="en-US" sz="1800" dirty="0">
              <a:latin typeface="Times New Roman" panose="02020603050405020304" pitchFamily="18" charset="0"/>
              <a:cs typeface="Times New Roman" panose="02020603050405020304" pitchFamily="18" charset="0"/>
            </a:endParaRPr>
          </a:p>
        </p:txBody>
      </p:sp>
      <p:sp>
        <p:nvSpPr>
          <p:cNvPr id="10" name="Text 8"/>
          <p:cNvSpPr txBox="1"/>
          <p:nvPr/>
        </p:nvSpPr>
        <p:spPr>
          <a:xfrm>
            <a:off x="1143000" y="2350008"/>
            <a:ext cx="310896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Next-day AQI plus the risk of a severe day (AQI &gt; 200).</a:t>
            </a:r>
            <a:endParaRPr lang="en-US" sz="1400" dirty="0">
              <a:latin typeface="Times New Roman" panose="02020603050405020304" pitchFamily="18" charset="0"/>
              <a:cs typeface="Times New Roman" panose="02020603050405020304" pitchFamily="18" charset="0"/>
            </a:endParaRPr>
          </a:p>
        </p:txBody>
      </p:sp>
      <p:sp>
        <p:nvSpPr>
          <p:cNvPr id="11" name="step circle Explain"/>
          <p:cNvSpPr/>
          <p:nvPr/>
        </p:nvSpPr>
        <p:spPr>
          <a:xfrm>
            <a:off x="457200" y="297180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457200" y="297180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1143000" y="2926080"/>
            <a:ext cx="3017520" cy="274320"/>
          </a:xfrm>
          <a:prstGeom prst="rect">
            <a:avLst/>
          </a:prstGeom>
          <a:noFill/>
          <a:ln/>
        </p:spPr>
        <p:txBody>
          <a:bodyPr wrap="square" lIns="0" tIns="0" rIns="0" bIns="0" rtlCol="0" anchor="t"/>
          <a:lstStyle/>
          <a:p>
            <a:pPr marL="0" indent="0">
              <a:buNone/>
            </a:pPr>
            <a:r>
              <a:rPr lang="en-US" sz="1800" b="1" dirty="0">
                <a:solidFill>
                  <a:schemeClr val="bg1"/>
                </a:solidFill>
                <a:latin typeface="Times New Roman" panose="02020603050405020304" pitchFamily="18" charset="0"/>
                <a:cs typeface="Times New Roman" panose="02020603050405020304" pitchFamily="18" charset="0"/>
              </a:rPr>
              <a:t>Explain</a:t>
            </a:r>
            <a:endParaRPr lang="en-US" sz="18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1143000" y="3218688"/>
            <a:ext cx="310896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A waterfall shows how each criterion built a zone's score.</a:t>
            </a:r>
            <a:endParaRPr lang="en-US" sz="1400" dirty="0">
              <a:latin typeface="Times New Roman" panose="02020603050405020304" pitchFamily="18" charset="0"/>
              <a:cs typeface="Times New Roman" panose="02020603050405020304" pitchFamily="18" charset="0"/>
            </a:endParaRPr>
          </a:p>
        </p:txBody>
      </p:sp>
      <p:sp>
        <p:nvSpPr>
          <p:cNvPr id="15" name="step circle Act"/>
          <p:cNvSpPr/>
          <p:nvPr/>
        </p:nvSpPr>
        <p:spPr>
          <a:xfrm>
            <a:off x="457200" y="3840480"/>
            <a:ext cx="502920" cy="502920"/>
          </a:xfrm>
          <a:prstGeom prst="ellipse">
            <a:avLst/>
          </a:prstGeom>
          <a:solidFill>
            <a:schemeClr val="accent4"/>
          </a:solidFill>
          <a:ln w="12700">
            <a:solidFill>
              <a:schemeClr val="accent4"/>
            </a:solidFill>
            <a:prstDash val="solid"/>
          </a:ln>
        </p:spPr>
      </p:sp>
      <p:sp>
        <p:nvSpPr>
          <p:cNvPr id="16" name="Text 14"/>
          <p:cNvSpPr txBox="1"/>
          <p:nvPr/>
        </p:nvSpPr>
        <p:spPr>
          <a:xfrm>
            <a:off x="457200" y="38404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Times New Roman" panose="02020603050405020304" pitchFamily="18" charset="0"/>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1143000" y="3794760"/>
            <a:ext cx="3017520" cy="274320"/>
          </a:xfrm>
          <a:prstGeom prst="rect">
            <a:avLst/>
          </a:prstGeom>
          <a:noFill/>
          <a:ln/>
        </p:spPr>
        <p:txBody>
          <a:bodyPr wrap="square" lIns="0" tIns="0" rIns="0" bIns="0" rtlCol="0" anchor="t"/>
          <a:lstStyle/>
          <a:p>
            <a:pPr marL="0" indent="0">
              <a:buNone/>
            </a:pPr>
            <a:r>
              <a:rPr lang="en-US" sz="1800" b="1" dirty="0">
                <a:solidFill>
                  <a:schemeClr val="bg1"/>
                </a:solidFill>
                <a:latin typeface="Times New Roman" panose="02020603050405020304" pitchFamily="18" charset="0"/>
                <a:cs typeface="Times New Roman" panose="02020603050405020304" pitchFamily="18" charset="0"/>
              </a:rPr>
              <a:t>Act</a:t>
            </a:r>
            <a:endParaRPr lang="en-US" sz="18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1143000" y="4087368"/>
            <a:ext cx="3108960" cy="5029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Top-N zones for your capacity, a route and an action dossier.</a:t>
            </a:r>
            <a:endParaRPr lang="en-US" sz="1400" dirty="0">
              <a:latin typeface="Times New Roman" panose="02020603050405020304" pitchFamily="18" charset="0"/>
              <a:cs typeface="Times New Roman" panose="02020603050405020304" pitchFamily="18" charset="0"/>
            </a:endParaRPr>
          </a:p>
        </p:txBody>
      </p:sp>
      <p:sp>
        <p:nvSpPr>
          <p:cNvPr id="19" name="weights card"/>
          <p:cNvSpPr/>
          <p:nvPr/>
        </p:nvSpPr>
        <p:spPr>
          <a:xfrm>
            <a:off x="4572000" y="1143000"/>
            <a:ext cx="4114800" cy="3429000"/>
          </a:xfrm>
          <a:prstGeom prst="roundRect">
            <a:avLst>
              <a:gd name="adj" fmla="val 2133"/>
            </a:avLst>
          </a:prstGeom>
          <a:solidFill>
            <a:schemeClr val="tx2"/>
          </a:solidFill>
          <a:ln w="9525">
            <a:solidFill>
              <a:srgbClr val="2A3750"/>
            </a:solidFill>
            <a:prstDash val="solid"/>
          </a:ln>
        </p:spPr>
      </p:sp>
      <p:graphicFrame>
        <p:nvGraphicFramePr>
          <p:cNvPr id="20" name="Chart 0"/>
          <p:cNvGraphicFramePr/>
          <p:nvPr>
            <p:extLst>
              <p:ext uri="{D42A27DB-BD31-4B8C-83A1-F6EECF244321}">
                <p14:modId xmlns:p14="http://schemas.microsoft.com/office/powerpoint/2010/main" val="1751008808"/>
              </p:ext>
            </p:extLst>
          </p:nvPr>
        </p:nvGraphicFramePr>
        <p:xfrm>
          <a:off x="4663440" y="1188720"/>
          <a:ext cx="393192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082018" y="155448"/>
            <a:ext cx="4487594" cy="685800"/>
          </a:xfrm>
          <a:prstGeom prst="rect">
            <a:avLst/>
          </a:prstGeom>
          <a:noFill/>
          <a:ln/>
        </p:spPr>
        <p:txBody>
          <a:bodyPr wrap="square" lIns="0" tIns="0" rIns="0" bIns="0" rtlCol="0" anchor="ctr"/>
          <a:lstStyle/>
          <a:p>
            <a:pPr marL="0" indent="0" algn="l">
              <a:buNone/>
            </a:pPr>
            <a:r>
              <a:rPr lang="en-US" b="1" dirty="0">
                <a:solidFill>
                  <a:schemeClr val="bg1"/>
                </a:solidFill>
                <a:latin typeface="Times New Roman" panose="02020603050405020304" pitchFamily="18" charset="0"/>
                <a:cs typeface="Times New Roman" panose="02020603050405020304" pitchFamily="18" charset="0"/>
              </a:rPr>
              <a:t>Demo: rank, flag, assign</a:t>
            </a:r>
            <a:endParaRPr lang="en-US" dirty="0">
              <a:latin typeface="Times New Roman" panose="02020603050405020304" pitchFamily="18" charset="0"/>
              <a:cs typeface="Times New Roman" panose="02020603050405020304" pitchFamily="18" charset="0"/>
            </a:endParaRPr>
          </a:p>
        </p:txBody>
      </p:sp>
      <p:sp>
        <p:nvSpPr>
          <p:cNvPr id="3" name="Priority rankings tab with action queue, leaderboard and map frame"/>
          <p:cNvSpPr/>
          <p:nvPr/>
        </p:nvSpPr>
        <p:spPr>
          <a:xfrm>
            <a:off x="429768" y="1024128"/>
            <a:ext cx="5129784" cy="3767328"/>
          </a:xfrm>
          <a:prstGeom prst="roundRect">
            <a:avLst>
              <a:gd name="adj" fmla="val 1942"/>
            </a:avLst>
          </a:prstGeom>
          <a:solidFill>
            <a:schemeClr val="tx2"/>
          </a:solidFill>
          <a:ln w="9525">
            <a:solidFill>
              <a:srgbClr val="2A3750"/>
            </a:solidFill>
            <a:prstDash val="solid"/>
          </a:ln>
        </p:spPr>
      </p:sp>
      <p:pic>
        <p:nvPicPr>
          <p:cNvPr id="4" name="Priority rankings tab with action queue, leaderboard and map" descr="Priority rankings tab with action queue, leaderboard and map"/>
          <p:cNvPicPr>
            <a:picLocks noChangeAspect="1"/>
          </p:cNvPicPr>
          <p:nvPr/>
        </p:nvPicPr>
        <p:blipFill>
          <a:blip r:embed="rId3"/>
          <a:stretch>
            <a:fillRect/>
          </a:stretch>
        </p:blipFill>
        <p:spPr>
          <a:xfrm>
            <a:off x="502920" y="1097280"/>
            <a:ext cx="4983480" cy="3621024"/>
          </a:xfrm>
          <a:prstGeom prst="rect">
            <a:avLst/>
          </a:prstGeom>
        </p:spPr>
      </p:pic>
      <p:sp>
        <p:nvSpPr>
          <p:cNvPr id="5" name="Text 2"/>
          <p:cNvSpPr txBox="1"/>
          <p:nvPr/>
        </p:nvSpPr>
        <p:spPr>
          <a:xfrm>
            <a:off x="5806440" y="1188720"/>
            <a:ext cx="2880360" cy="320040"/>
          </a:xfrm>
          <a:prstGeom prst="rect">
            <a:avLst/>
          </a:prstGeom>
          <a:noFill/>
          <a:ln/>
        </p:spPr>
        <p:txBody>
          <a:bodyPr wrap="square" lIns="0" tIns="0" rIns="0" bIns="0" rtlCol="0" anchor="t"/>
          <a:lstStyle/>
          <a:p>
            <a:pPr marL="0" indent="0">
              <a:buNone/>
            </a:pPr>
            <a:r>
              <a:rPr lang="en-US" sz="2000" b="1" dirty="0">
                <a:solidFill>
                  <a:schemeClr val="accent2"/>
                </a:solidFill>
                <a:latin typeface="Times New Roman" panose="02020603050405020304" pitchFamily="18" charset="0"/>
                <a:cs typeface="Times New Roman" panose="02020603050405020304" pitchFamily="18" charset="0"/>
              </a:rPr>
              <a:t>Set capacity</a:t>
            </a:r>
            <a:endParaRPr lang="en-US" sz="2000" dirty="0">
              <a:latin typeface="Times New Roman" panose="02020603050405020304" pitchFamily="18" charset="0"/>
              <a:cs typeface="Times New Roman" panose="02020603050405020304" pitchFamily="18" charset="0"/>
            </a:endParaRPr>
          </a:p>
        </p:txBody>
      </p:sp>
      <p:sp>
        <p:nvSpPr>
          <p:cNvPr id="6" name="Text 3"/>
          <p:cNvSpPr txBox="1"/>
          <p:nvPr/>
        </p:nvSpPr>
        <p:spPr>
          <a:xfrm>
            <a:off x="5806440" y="1554480"/>
            <a:ext cx="2880360" cy="64008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Say 5 zones: the top 5 are flagged for inspection.</a:t>
            </a:r>
            <a:endParaRPr lang="en-US" sz="1400" dirty="0">
              <a:latin typeface="Times New Roman" panose="02020603050405020304" pitchFamily="18" charset="0"/>
              <a:cs typeface="Times New Roman" panose="02020603050405020304" pitchFamily="18" charset="0"/>
            </a:endParaRPr>
          </a:p>
        </p:txBody>
      </p:sp>
      <p:sp>
        <p:nvSpPr>
          <p:cNvPr id="7" name="Text 4"/>
          <p:cNvSpPr txBox="1"/>
          <p:nvPr/>
        </p:nvSpPr>
        <p:spPr>
          <a:xfrm>
            <a:off x="5806440" y="2286000"/>
            <a:ext cx="2880360" cy="320040"/>
          </a:xfrm>
          <a:prstGeom prst="rect">
            <a:avLst/>
          </a:prstGeom>
          <a:noFill/>
          <a:ln/>
        </p:spPr>
        <p:txBody>
          <a:bodyPr wrap="square" lIns="0" tIns="0" rIns="0" bIns="0" rtlCol="0" anchor="t"/>
          <a:lstStyle/>
          <a:p>
            <a:pPr marL="0" indent="0">
              <a:buNone/>
            </a:pPr>
            <a:r>
              <a:rPr lang="en-US" sz="2000" b="1" dirty="0">
                <a:solidFill>
                  <a:schemeClr val="accent2"/>
                </a:solidFill>
                <a:latin typeface="Times New Roman" panose="02020603050405020304" pitchFamily="18" charset="0"/>
                <a:cs typeface="Times New Roman" panose="02020603050405020304" pitchFamily="18" charset="0"/>
              </a:rPr>
              <a:t>Read the queue</a:t>
            </a:r>
            <a:endParaRPr lang="en-US" sz="2000" dirty="0">
              <a:latin typeface="Times New Roman" panose="02020603050405020304" pitchFamily="18" charset="0"/>
              <a:cs typeface="Times New Roman" panose="02020603050405020304" pitchFamily="18" charset="0"/>
            </a:endParaRPr>
          </a:p>
        </p:txBody>
      </p:sp>
      <p:sp>
        <p:nvSpPr>
          <p:cNvPr id="8" name="Text 5"/>
          <p:cNvSpPr txBox="1"/>
          <p:nvPr/>
        </p:nvSpPr>
        <p:spPr>
          <a:xfrm>
            <a:off x="5806440" y="2651760"/>
            <a:ext cx="2880360" cy="64008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Each flagged zone carries a one-line intervention.</a:t>
            </a:r>
            <a:endParaRPr lang="en-US" sz="1400" dirty="0">
              <a:latin typeface="Times New Roman" panose="02020603050405020304" pitchFamily="18" charset="0"/>
              <a:cs typeface="Times New Roman" panose="02020603050405020304" pitchFamily="18" charset="0"/>
            </a:endParaRPr>
          </a:p>
        </p:txBody>
      </p:sp>
      <p:sp>
        <p:nvSpPr>
          <p:cNvPr id="9" name="Text 6"/>
          <p:cNvSpPr txBox="1"/>
          <p:nvPr/>
        </p:nvSpPr>
        <p:spPr>
          <a:xfrm>
            <a:off x="5806440" y="3383280"/>
            <a:ext cx="2880360" cy="320040"/>
          </a:xfrm>
          <a:prstGeom prst="rect">
            <a:avLst/>
          </a:prstGeom>
          <a:noFill/>
          <a:ln/>
        </p:spPr>
        <p:txBody>
          <a:bodyPr wrap="square" lIns="0" tIns="0" rIns="0" bIns="0" rtlCol="0" anchor="t"/>
          <a:lstStyle/>
          <a:p>
            <a:pPr marL="0" indent="0">
              <a:buNone/>
            </a:pPr>
            <a:r>
              <a:rPr lang="en-US" sz="2000" b="1" dirty="0">
                <a:solidFill>
                  <a:schemeClr val="accent2"/>
                </a:solidFill>
                <a:latin typeface="Times New Roman" panose="02020603050405020304" pitchFamily="18" charset="0"/>
                <a:cs typeface="Times New Roman" panose="02020603050405020304" pitchFamily="18" charset="0"/>
              </a:rPr>
              <a:t>See Where</a:t>
            </a:r>
            <a:endParaRPr lang="en-US" sz="2000" dirty="0">
              <a:latin typeface="Times New Roman" panose="02020603050405020304" pitchFamily="18" charset="0"/>
              <a:cs typeface="Times New Roman" panose="02020603050405020304" pitchFamily="18" charset="0"/>
            </a:endParaRPr>
          </a:p>
        </p:txBody>
      </p:sp>
      <p:sp>
        <p:nvSpPr>
          <p:cNvPr id="10" name="Text 7"/>
          <p:cNvSpPr txBox="1"/>
          <p:nvPr/>
        </p:nvSpPr>
        <p:spPr>
          <a:xfrm>
            <a:off x="5806440" y="3749040"/>
            <a:ext cx="2880360" cy="64008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Leaderboard and map show the same ranking.</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56006" y="256735"/>
            <a:ext cx="6520376"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Every rank comes with its reasons</a:t>
            </a:r>
            <a:endParaRPr lang="en-US" sz="3200" dirty="0">
              <a:latin typeface="Times New Roman" panose="02020603050405020304" pitchFamily="18" charset="0"/>
              <a:cs typeface="Times New Roman" panose="02020603050405020304" pitchFamily="18" charset="0"/>
            </a:endParaRPr>
          </a:p>
        </p:txBody>
      </p:sp>
      <p:sp>
        <p:nvSpPr>
          <p:cNvPr id="3" name="Score contribution waterfall and action protocol for one zone frame"/>
          <p:cNvSpPr/>
          <p:nvPr/>
        </p:nvSpPr>
        <p:spPr>
          <a:xfrm>
            <a:off x="612648" y="1115568"/>
            <a:ext cx="7918704" cy="3264408"/>
          </a:xfrm>
          <a:prstGeom prst="roundRect">
            <a:avLst>
              <a:gd name="adj" fmla="val 2241"/>
            </a:avLst>
          </a:prstGeom>
          <a:solidFill>
            <a:schemeClr val="tx2"/>
          </a:solidFill>
          <a:ln w="9525">
            <a:solidFill>
              <a:srgbClr val="2A3750"/>
            </a:solidFill>
            <a:prstDash val="solid"/>
          </a:ln>
        </p:spPr>
      </p:sp>
      <p:pic>
        <p:nvPicPr>
          <p:cNvPr id="4" name="Score contribution waterfall and action protocol for one zone" descr="Score contribution waterfall and action protocol for one zone"/>
          <p:cNvPicPr>
            <a:picLocks noChangeAspect="1"/>
          </p:cNvPicPr>
          <p:nvPr/>
        </p:nvPicPr>
        <p:blipFill>
          <a:blip r:embed="rId3"/>
          <a:stretch>
            <a:fillRect/>
          </a:stretch>
        </p:blipFill>
        <p:spPr>
          <a:xfrm>
            <a:off x="685800" y="1188720"/>
            <a:ext cx="7772400" cy="3118104"/>
          </a:xfrm>
          <a:prstGeom prst="rect">
            <a:avLst/>
          </a:prstGeom>
        </p:spPr>
      </p:pic>
      <p:sp>
        <p:nvSpPr>
          <p:cNvPr id="5" name="Text 2"/>
          <p:cNvSpPr txBox="1"/>
          <p:nvPr/>
        </p:nvSpPr>
        <p:spPr>
          <a:xfrm>
            <a:off x="1005840" y="4526280"/>
            <a:ext cx="7223760" cy="274320"/>
          </a:xfrm>
          <a:prstGeom prst="rect">
            <a:avLst/>
          </a:prstGeom>
          <a:noFill/>
          <a:ln/>
        </p:spPr>
        <p:txBody>
          <a:bodyPr wrap="square" lIns="0" tIns="0" rIns="0" bIns="0" rtlCol="0" anchor="t"/>
          <a:lstStyle/>
          <a:p>
            <a:pPr marL="0" indent="0">
              <a:buNone/>
            </a:pPr>
            <a:r>
              <a:rPr lang="en-US" sz="1400" b="1" dirty="0">
                <a:solidFill>
                  <a:schemeClr val="bg2"/>
                </a:solidFill>
                <a:latin typeface="Times New Roman" panose="02020603050405020304" pitchFamily="18" charset="0"/>
                <a:cs typeface="Times New Roman" panose="02020603050405020304" pitchFamily="18" charset="0"/>
              </a:rPr>
              <a:t>Waterfall = score by criterion.  Dossier = rule-based action, evidence, and operational caveats.</a:t>
            </a:r>
            <a:endParaRPr lang="en-US" sz="1400" b="1"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655064" y="210312"/>
            <a:ext cx="5062259"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What if the policy changes?</a:t>
            </a:r>
            <a:endParaRPr lang="en-US" sz="3200" dirty="0">
              <a:latin typeface="Times New Roman" panose="02020603050405020304" pitchFamily="18" charset="0"/>
              <a:cs typeface="Times New Roman" panose="02020603050405020304" pitchFamily="18" charset="0"/>
            </a:endParaRPr>
          </a:p>
        </p:txBody>
      </p:sp>
      <p:sp>
        <p:nvSpPr>
          <p:cNvPr id="3" name="What-if policy weight simulator showing rank movement frame"/>
          <p:cNvSpPr/>
          <p:nvPr/>
        </p:nvSpPr>
        <p:spPr>
          <a:xfrm>
            <a:off x="429768" y="1069848"/>
            <a:ext cx="4992624" cy="3529584"/>
          </a:xfrm>
          <a:prstGeom prst="roundRect">
            <a:avLst>
              <a:gd name="adj" fmla="val 2073"/>
            </a:avLst>
          </a:prstGeom>
          <a:solidFill>
            <a:schemeClr val="tx2"/>
          </a:solidFill>
          <a:ln w="9525">
            <a:solidFill>
              <a:srgbClr val="2A3750"/>
            </a:solidFill>
            <a:prstDash val="solid"/>
          </a:ln>
        </p:spPr>
      </p:sp>
      <p:pic>
        <p:nvPicPr>
          <p:cNvPr id="4" name="What-if policy weight simulator showing rank movement" descr="What-if policy weight simulator showing rank movement"/>
          <p:cNvPicPr>
            <a:picLocks noChangeAspect="1"/>
          </p:cNvPicPr>
          <p:nvPr/>
        </p:nvPicPr>
        <p:blipFill>
          <a:blip r:embed="rId3"/>
          <a:stretch>
            <a:fillRect/>
          </a:stretch>
        </p:blipFill>
        <p:spPr>
          <a:xfrm>
            <a:off x="502920" y="1143000"/>
            <a:ext cx="4846320" cy="3383280"/>
          </a:xfrm>
          <a:prstGeom prst="rect">
            <a:avLst/>
          </a:prstGeom>
        </p:spPr>
      </p:pic>
      <p:sp>
        <p:nvSpPr>
          <p:cNvPr id="5" name="icon circle What-if simulator"/>
          <p:cNvSpPr/>
          <p:nvPr/>
        </p:nvSpPr>
        <p:spPr>
          <a:xfrm>
            <a:off x="5669280" y="1188720"/>
            <a:ext cx="457200" cy="457200"/>
          </a:xfrm>
          <a:prstGeom prst="ellipse">
            <a:avLst/>
          </a:prstGeom>
          <a:solidFill>
            <a:schemeClr val="accent1"/>
          </a:solidFill>
          <a:ln w="12700">
            <a:solidFill>
              <a:schemeClr val="accent1"/>
            </a:solidFill>
            <a:prstDash val="solid"/>
          </a:ln>
        </p:spPr>
      </p:sp>
      <p:pic>
        <p:nvPicPr>
          <p:cNvPr id="6" name="icon What-if simulator" descr="What-if simulator"/>
          <p:cNvPicPr>
            <a:picLocks noChangeAspect="1"/>
          </p:cNvPicPr>
          <p:nvPr/>
        </p:nvPicPr>
        <p:blipFill>
          <a:blip r:embed="rId4"/>
          <a:stretch>
            <a:fillRect/>
          </a:stretch>
        </p:blipFill>
        <p:spPr>
          <a:xfrm>
            <a:off x="5769864" y="1289304"/>
            <a:ext cx="256032" cy="256032"/>
          </a:xfrm>
          <a:prstGeom prst="rect">
            <a:avLst/>
          </a:prstGeom>
        </p:spPr>
      </p:pic>
      <p:sp>
        <p:nvSpPr>
          <p:cNvPr id="7" name="Text 3"/>
          <p:cNvSpPr txBox="1"/>
          <p:nvPr/>
        </p:nvSpPr>
        <p:spPr>
          <a:xfrm>
            <a:off x="6309360" y="1170432"/>
            <a:ext cx="2377440" cy="274320"/>
          </a:xfrm>
          <a:prstGeom prst="rect">
            <a:avLst/>
          </a:prstGeom>
          <a:noFill/>
          <a:ln/>
        </p:spPr>
        <p:txBody>
          <a:bodyPr wrap="square" lIns="0" tIns="0" rIns="0" bIns="0" rtlCol="0" anchor="t"/>
          <a:lstStyle/>
          <a:p>
            <a:pPr marL="0" indent="0">
              <a:buNone/>
            </a:pPr>
            <a:r>
              <a:rPr lang="en-US" b="1" dirty="0">
                <a:solidFill>
                  <a:schemeClr val="bg1"/>
                </a:solidFill>
                <a:latin typeface="Times New Roman" panose="02020603050405020304" pitchFamily="18" charset="0"/>
                <a:cs typeface="Times New Roman" panose="02020603050405020304" pitchFamily="18" charset="0"/>
              </a:rPr>
              <a:t>What-if simulator</a:t>
            </a:r>
            <a:endParaRPr lang="en-US" dirty="0">
              <a:latin typeface="Times New Roman" panose="02020603050405020304" pitchFamily="18" charset="0"/>
              <a:cs typeface="Times New Roman" panose="02020603050405020304" pitchFamily="18" charset="0"/>
            </a:endParaRPr>
          </a:p>
        </p:txBody>
      </p:sp>
      <p:sp>
        <p:nvSpPr>
          <p:cNvPr id="8" name="Text 4"/>
          <p:cNvSpPr txBox="1"/>
          <p:nvPr/>
        </p:nvSpPr>
        <p:spPr>
          <a:xfrm>
            <a:off x="6309360" y="1463040"/>
            <a:ext cx="2377440" cy="77724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Change the weights; 500 Monte Carlo runs show which zones stay on top.</a:t>
            </a:r>
            <a:endParaRPr lang="en-US" sz="1400" dirty="0">
              <a:latin typeface="Times New Roman" panose="02020603050405020304" pitchFamily="18" charset="0"/>
              <a:cs typeface="Times New Roman" panose="02020603050405020304" pitchFamily="18" charset="0"/>
            </a:endParaRPr>
          </a:p>
        </p:txBody>
      </p:sp>
      <p:sp>
        <p:nvSpPr>
          <p:cNvPr id="9" name="icon circle Route planner"/>
          <p:cNvSpPr/>
          <p:nvPr/>
        </p:nvSpPr>
        <p:spPr>
          <a:xfrm>
            <a:off x="5669280" y="2331720"/>
            <a:ext cx="457200" cy="457200"/>
          </a:xfrm>
          <a:prstGeom prst="ellipse">
            <a:avLst/>
          </a:prstGeom>
          <a:solidFill>
            <a:schemeClr val="accent2"/>
          </a:solidFill>
          <a:ln w="12700">
            <a:solidFill>
              <a:schemeClr val="accent2"/>
            </a:solidFill>
            <a:prstDash val="solid"/>
          </a:ln>
        </p:spPr>
      </p:sp>
      <p:pic>
        <p:nvPicPr>
          <p:cNvPr id="10" name="icon Route planner" descr="Route planner"/>
          <p:cNvPicPr>
            <a:picLocks noChangeAspect="1"/>
          </p:cNvPicPr>
          <p:nvPr/>
        </p:nvPicPr>
        <p:blipFill>
          <a:blip r:embed="rId5"/>
          <a:stretch>
            <a:fillRect/>
          </a:stretch>
        </p:blipFill>
        <p:spPr>
          <a:xfrm>
            <a:off x="5769864" y="2432304"/>
            <a:ext cx="256032" cy="256032"/>
          </a:xfrm>
          <a:prstGeom prst="rect">
            <a:avLst/>
          </a:prstGeom>
        </p:spPr>
      </p:pic>
      <p:sp>
        <p:nvSpPr>
          <p:cNvPr id="11" name="Text 6"/>
          <p:cNvSpPr txBox="1"/>
          <p:nvPr/>
        </p:nvSpPr>
        <p:spPr>
          <a:xfrm>
            <a:off x="6309360" y="2313432"/>
            <a:ext cx="2377440" cy="274320"/>
          </a:xfrm>
          <a:prstGeom prst="rect">
            <a:avLst/>
          </a:prstGeom>
          <a:noFill/>
          <a:ln/>
        </p:spPr>
        <p:txBody>
          <a:bodyPr wrap="square" lIns="0" tIns="0" rIns="0" bIns="0" rtlCol="0" anchor="t"/>
          <a:lstStyle/>
          <a:p>
            <a:pPr marL="0" indent="0">
              <a:buNone/>
            </a:pPr>
            <a:r>
              <a:rPr lang="en-US" b="1" dirty="0">
                <a:solidFill>
                  <a:schemeClr val="bg1"/>
                </a:solidFill>
                <a:latin typeface="Times New Roman" panose="02020603050405020304" pitchFamily="18" charset="0"/>
                <a:cs typeface="Times New Roman" panose="02020603050405020304" pitchFamily="18" charset="0"/>
              </a:rPr>
              <a:t>Route planner</a:t>
            </a:r>
            <a:endParaRPr lang="en-US" dirty="0">
              <a:latin typeface="Times New Roman" panose="02020603050405020304" pitchFamily="18" charset="0"/>
              <a:cs typeface="Times New Roman" panose="02020603050405020304" pitchFamily="18" charset="0"/>
            </a:endParaRPr>
          </a:p>
        </p:txBody>
      </p:sp>
      <p:sp>
        <p:nvSpPr>
          <p:cNvPr id="12" name="Text 7"/>
          <p:cNvSpPr txBox="1"/>
          <p:nvPr/>
        </p:nvSpPr>
        <p:spPr>
          <a:xfrm>
            <a:off x="6309360" y="2606040"/>
            <a:ext cx="2377440" cy="77724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Flagged zones become a field tour with distances.</a:t>
            </a:r>
            <a:endParaRPr lang="en-US" sz="1400" dirty="0">
              <a:latin typeface="Times New Roman" panose="02020603050405020304" pitchFamily="18" charset="0"/>
              <a:cs typeface="Times New Roman" panose="02020603050405020304" pitchFamily="18" charset="0"/>
            </a:endParaRPr>
          </a:p>
        </p:txBody>
      </p:sp>
      <p:sp>
        <p:nvSpPr>
          <p:cNvPr id="13" name="icon circle Briefing export"/>
          <p:cNvSpPr/>
          <p:nvPr/>
        </p:nvSpPr>
        <p:spPr>
          <a:xfrm>
            <a:off x="5669280" y="3474720"/>
            <a:ext cx="457200" cy="457200"/>
          </a:xfrm>
          <a:prstGeom prst="ellipse">
            <a:avLst/>
          </a:prstGeom>
          <a:solidFill>
            <a:schemeClr val="accent4"/>
          </a:solidFill>
          <a:ln w="12700">
            <a:solidFill>
              <a:schemeClr val="accent4"/>
            </a:solidFill>
            <a:prstDash val="solid"/>
          </a:ln>
        </p:spPr>
      </p:sp>
      <p:pic>
        <p:nvPicPr>
          <p:cNvPr id="14" name="icon Briefing export" descr="Briefing export"/>
          <p:cNvPicPr>
            <a:picLocks noChangeAspect="1"/>
          </p:cNvPicPr>
          <p:nvPr/>
        </p:nvPicPr>
        <p:blipFill>
          <a:blip r:embed="rId6"/>
          <a:stretch>
            <a:fillRect/>
          </a:stretch>
        </p:blipFill>
        <p:spPr>
          <a:xfrm>
            <a:off x="5769864" y="3575304"/>
            <a:ext cx="256032" cy="256032"/>
          </a:xfrm>
          <a:prstGeom prst="rect">
            <a:avLst/>
          </a:prstGeom>
        </p:spPr>
      </p:pic>
      <p:sp>
        <p:nvSpPr>
          <p:cNvPr id="15" name="Text 9"/>
          <p:cNvSpPr txBox="1"/>
          <p:nvPr/>
        </p:nvSpPr>
        <p:spPr>
          <a:xfrm>
            <a:off x="6309360" y="3456432"/>
            <a:ext cx="2377440" cy="274320"/>
          </a:xfrm>
          <a:prstGeom prst="rect">
            <a:avLst/>
          </a:prstGeom>
          <a:noFill/>
          <a:ln/>
        </p:spPr>
        <p:txBody>
          <a:bodyPr wrap="square" lIns="0" tIns="0" rIns="0" bIns="0" rtlCol="0" anchor="t"/>
          <a:lstStyle/>
          <a:p>
            <a:pPr marL="0" indent="0">
              <a:buNone/>
            </a:pPr>
            <a:r>
              <a:rPr lang="en-US" b="1" dirty="0">
                <a:solidFill>
                  <a:schemeClr val="bg1"/>
                </a:solidFill>
                <a:latin typeface="Times New Roman" panose="02020603050405020304" pitchFamily="18" charset="0"/>
                <a:cs typeface="Times New Roman" panose="02020603050405020304" pitchFamily="18" charset="0"/>
              </a:rPr>
              <a:t>Briefing export</a:t>
            </a:r>
            <a:endParaRPr lang="en-US" dirty="0">
              <a:latin typeface="Times New Roman" panose="02020603050405020304" pitchFamily="18" charset="0"/>
              <a:cs typeface="Times New Roman" panose="02020603050405020304" pitchFamily="18" charset="0"/>
            </a:endParaRPr>
          </a:p>
        </p:txBody>
      </p:sp>
      <p:sp>
        <p:nvSpPr>
          <p:cNvPr id="16" name="Text 10"/>
          <p:cNvSpPr txBox="1"/>
          <p:nvPr/>
        </p:nvSpPr>
        <p:spPr>
          <a:xfrm>
            <a:off x="6309360" y="3749040"/>
            <a:ext cx="2377440" cy="77724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One click for a printable weekly briefing.</a:t>
            </a:r>
            <a:endParaRPr lang="en-US" sz="14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01594" y="182880"/>
            <a:ext cx="4480560"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What the data told us</a:t>
            </a:r>
            <a:endParaRPr lang="en-US" sz="3200" dirty="0">
              <a:latin typeface="Times New Roman" panose="02020603050405020304" pitchFamily="18" charset="0"/>
              <a:cs typeface="Times New Roman" panose="02020603050405020304" pitchFamily="18" charset="0"/>
            </a:endParaRPr>
          </a:p>
        </p:txBody>
      </p:sp>
      <p:sp>
        <p:nvSpPr>
          <p:cNvPr id="3" name="season chart card"/>
          <p:cNvSpPr/>
          <p:nvPr/>
        </p:nvSpPr>
        <p:spPr>
          <a:xfrm>
            <a:off x="457200" y="1143000"/>
            <a:ext cx="4023360" cy="2743200"/>
          </a:xfrm>
          <a:prstGeom prst="roundRect">
            <a:avLst>
              <a:gd name="adj" fmla="val 2667"/>
            </a:avLst>
          </a:prstGeom>
          <a:solidFill>
            <a:schemeClr val="tx2"/>
          </a:solidFill>
          <a:ln w="9525">
            <a:solidFill>
              <a:srgbClr val="2A3750"/>
            </a:solidFill>
            <a:prstDash val="solid"/>
          </a:ln>
        </p:spPr>
      </p:sp>
      <p:graphicFrame>
        <p:nvGraphicFramePr>
          <p:cNvPr id="4" name="Chart 0"/>
          <p:cNvGraphicFramePr/>
          <p:nvPr>
            <p:extLst>
              <p:ext uri="{D42A27DB-BD31-4B8C-83A1-F6EECF244321}">
                <p14:modId xmlns:p14="http://schemas.microsoft.com/office/powerpoint/2010/main" val="3216206368"/>
              </p:ext>
            </p:extLst>
          </p:nvPr>
        </p:nvGraphicFramePr>
        <p:xfrm>
          <a:off x="548640" y="1188720"/>
          <a:ext cx="38404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5" name="wind chart card"/>
          <p:cNvSpPr/>
          <p:nvPr/>
        </p:nvSpPr>
        <p:spPr>
          <a:xfrm>
            <a:off x="4663440" y="1143000"/>
            <a:ext cx="4023360" cy="2743200"/>
          </a:xfrm>
          <a:prstGeom prst="roundRect">
            <a:avLst>
              <a:gd name="adj" fmla="val 2667"/>
            </a:avLst>
          </a:prstGeom>
          <a:solidFill>
            <a:schemeClr val="tx2"/>
          </a:solidFill>
          <a:ln w="9525">
            <a:solidFill>
              <a:srgbClr val="2A3750"/>
            </a:solidFill>
            <a:prstDash val="solid"/>
          </a:ln>
        </p:spPr>
      </p:sp>
      <p:graphicFrame>
        <p:nvGraphicFramePr>
          <p:cNvPr id="6" name="Chart 1"/>
          <p:cNvGraphicFramePr/>
          <p:nvPr>
            <p:extLst>
              <p:ext uri="{D42A27DB-BD31-4B8C-83A1-F6EECF244321}">
                <p14:modId xmlns:p14="http://schemas.microsoft.com/office/powerpoint/2010/main" val="2707816021"/>
              </p:ext>
            </p:extLst>
          </p:nvPr>
        </p:nvGraphicFramePr>
        <p:xfrm>
          <a:off x="4754880" y="1188720"/>
          <a:ext cx="384048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640080" y="4142935"/>
            <a:ext cx="7680960" cy="548640"/>
          </a:xfrm>
          <a:prstGeom prst="rect">
            <a:avLst/>
          </a:prstGeom>
          <a:noFill/>
          <a:ln/>
        </p:spPr>
        <p:txBody>
          <a:bodyPr wrap="square" lIns="0" tIns="0" rIns="0" bIns="0" rtlCol="0" anchor="t"/>
          <a:lstStyle/>
          <a:p>
            <a:pPr marL="0" indent="0">
              <a:buNone/>
            </a:pPr>
            <a:r>
              <a:rPr lang="en-US" b="1" dirty="0">
                <a:solidFill>
                  <a:schemeClr val="bg1"/>
                </a:solidFill>
                <a:latin typeface="Times New Roman" panose="02020603050405020304" pitchFamily="18" charset="0"/>
                <a:cs typeface="Times New Roman" panose="02020603050405020304" pitchFamily="18" charset="0"/>
              </a:rPr>
              <a:t>Wind speed and AQI correlate at r = −0.25. A signal, not proof: season and location may confound it.</a:t>
            </a:r>
            <a:endParaRPr lang="en-US"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606040" y="173736"/>
            <a:ext cx="3833446"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Honest validation</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731520" y="996696"/>
            <a:ext cx="4297680" cy="27432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Next-day mean AQI · strict time split · 2023 holdout</a:t>
            </a:r>
            <a:endParaRPr lang="en-US" sz="1400" dirty="0">
              <a:latin typeface="Times New Roman" panose="02020603050405020304" pitchFamily="18" charset="0"/>
              <a:cs typeface="Times New Roman" panose="02020603050405020304" pitchFamily="18" charset="0"/>
            </a:endParaRPr>
          </a:p>
        </p:txBody>
      </p:sp>
      <p:graphicFrame>
        <p:nvGraphicFramePr>
          <p:cNvPr id="10" name="point forecast table"/>
          <p:cNvGraphicFramePr>
            <a:graphicFrameLocks noGrp="1"/>
          </p:cNvGraphicFramePr>
          <p:nvPr>
            <p:extLst>
              <p:ext uri="{D42A27DB-BD31-4B8C-83A1-F6EECF244321}">
                <p14:modId xmlns:p14="http://schemas.microsoft.com/office/powerpoint/2010/main" val="1579011935"/>
              </p:ext>
            </p:extLst>
          </p:nvPr>
        </p:nvGraphicFramePr>
        <p:xfrm>
          <a:off x="457200" y="1325880"/>
          <a:ext cx="4297680" cy="1645920"/>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29184">
                <a:tc>
                  <a:txBody>
                    <a:bodyPr/>
                    <a:lstStyle/>
                    <a:p>
                      <a:pPr marL="0" indent="0" algn="l">
                        <a:buNone/>
                      </a:pPr>
                      <a:r>
                        <a:rPr lang="en-US" sz="1400" b="1" dirty="0">
                          <a:solidFill>
                            <a:srgbClr val="A9B8CF"/>
                          </a:solidFill>
                        </a:rPr>
                        <a:t>Model</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0B1220"/>
                    </a:solidFill>
                  </a:tcPr>
                </a:tc>
                <a:tc>
                  <a:txBody>
                    <a:bodyPr/>
                    <a:lstStyle/>
                    <a:p>
                      <a:pPr marL="0" indent="0" algn="l">
                        <a:buNone/>
                      </a:pPr>
                      <a:r>
                        <a:rPr lang="en-US" sz="1400" b="1" dirty="0">
                          <a:solidFill>
                            <a:srgbClr val="A9B8CF"/>
                          </a:solidFill>
                        </a:rPr>
                        <a:t>MAE</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0B1220"/>
                    </a:solidFill>
                  </a:tcPr>
                </a:tc>
                <a:tc>
                  <a:txBody>
                    <a:bodyPr/>
                    <a:lstStyle/>
                    <a:p>
                      <a:pPr marL="0" indent="0" algn="l">
                        <a:buNone/>
                      </a:pPr>
                      <a:r>
                        <a:rPr lang="en-US" sz="1400" b="1" dirty="0">
                          <a:solidFill>
                            <a:srgbClr val="A9B8CF"/>
                          </a:solidFill>
                        </a:rPr>
                        <a:t>RMSE</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0B1220"/>
                    </a:solidFill>
                  </a:tcPr>
                </a:tc>
                <a:extLst>
                  <a:ext uri="{0D108BD9-81ED-4DB2-BD59-A6C34878D82A}">
                    <a16:rowId xmlns:a16="http://schemas.microsoft.com/office/drawing/2014/main" val="10000"/>
                  </a:ext>
                </a:extLst>
              </a:tr>
              <a:tr h="329184">
                <a:tc>
                  <a:txBody>
                    <a:bodyPr/>
                    <a:lstStyle/>
                    <a:p>
                      <a:pPr marL="0" indent="0" algn="l">
                        <a:buNone/>
                      </a:pPr>
                      <a:r>
                        <a:rPr lang="en-US" sz="1400" b="1" dirty="0">
                          <a:solidFill>
                            <a:srgbClr val="0B1220"/>
                          </a:solidFill>
                        </a:rPr>
                        <a:t>Persistence (t−1)</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F5B544"/>
                    </a:solidFill>
                  </a:tcPr>
                </a:tc>
                <a:tc>
                  <a:txBody>
                    <a:bodyPr/>
                    <a:lstStyle/>
                    <a:p>
                      <a:pPr marL="0" indent="0" algn="r">
                        <a:buNone/>
                      </a:pPr>
                      <a:r>
                        <a:rPr lang="en-US" sz="1400" b="1" dirty="0">
                          <a:solidFill>
                            <a:srgbClr val="0B1220"/>
                          </a:solidFill>
                        </a:rPr>
                        <a:t>19.42</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F5B544"/>
                    </a:solidFill>
                  </a:tcPr>
                </a:tc>
                <a:tc>
                  <a:txBody>
                    <a:bodyPr/>
                    <a:lstStyle/>
                    <a:p>
                      <a:pPr marL="0" indent="0" algn="r">
                        <a:buNone/>
                      </a:pPr>
                      <a:r>
                        <a:rPr lang="en-US" sz="1400" b="1" dirty="0">
                          <a:solidFill>
                            <a:srgbClr val="0B1220"/>
                          </a:solidFill>
                        </a:rPr>
                        <a:t>30.38</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F5B544"/>
                    </a:solidFill>
                  </a:tcPr>
                </a:tc>
                <a:extLst>
                  <a:ext uri="{0D108BD9-81ED-4DB2-BD59-A6C34878D82A}">
                    <a16:rowId xmlns:a16="http://schemas.microsoft.com/office/drawing/2014/main" val="10001"/>
                  </a:ext>
                </a:extLst>
              </a:tr>
              <a:tr h="329184">
                <a:tc>
                  <a:txBody>
                    <a:bodyPr/>
                    <a:lstStyle/>
                    <a:p>
                      <a:pPr marL="0" indent="0" algn="l">
                        <a:buNone/>
                      </a:pPr>
                      <a:r>
                        <a:rPr lang="en-US" sz="1400" dirty="0">
                          <a:solidFill>
                            <a:srgbClr val="F2F6FC"/>
                          </a:solidFill>
                        </a:rPr>
                        <a:t>Ridge regression</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19.58</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28.65</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extLst>
                  <a:ext uri="{0D108BD9-81ED-4DB2-BD59-A6C34878D82A}">
                    <a16:rowId xmlns:a16="http://schemas.microsoft.com/office/drawing/2014/main" val="10002"/>
                  </a:ext>
                </a:extLst>
              </a:tr>
              <a:tr h="329184">
                <a:tc>
                  <a:txBody>
                    <a:bodyPr/>
                    <a:lstStyle/>
                    <a:p>
                      <a:pPr marL="0" indent="0" algn="l">
                        <a:buNone/>
                      </a:pPr>
                      <a:r>
                        <a:rPr lang="en-US" sz="1400" dirty="0">
                          <a:solidFill>
                            <a:srgbClr val="F2F6FC"/>
                          </a:solidFill>
                        </a:rPr>
                        <a:t>Gradient boosting</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20.35</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29.92</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extLst>
                  <a:ext uri="{0D108BD9-81ED-4DB2-BD59-A6C34878D82A}">
                    <a16:rowId xmlns:a16="http://schemas.microsoft.com/office/drawing/2014/main" val="10003"/>
                  </a:ext>
                </a:extLst>
              </a:tr>
              <a:tr h="329184">
                <a:tc>
                  <a:txBody>
                    <a:bodyPr/>
                    <a:lstStyle/>
                    <a:p>
                      <a:pPr marL="0" indent="0" algn="l">
                        <a:buNone/>
                      </a:pPr>
                      <a:r>
                        <a:rPr lang="en-US" sz="1400" dirty="0">
                          <a:solidFill>
                            <a:srgbClr val="F2F6FC"/>
                          </a:solidFill>
                        </a:rPr>
                        <a:t>Seasonal naive (t−7)</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34.57</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tc>
                  <a:txBody>
                    <a:bodyPr/>
                    <a:lstStyle/>
                    <a:p>
                      <a:pPr marL="0" indent="0" algn="r">
                        <a:buNone/>
                      </a:pPr>
                      <a:r>
                        <a:rPr lang="en-US" sz="1400" dirty="0">
                          <a:solidFill>
                            <a:srgbClr val="F2F6FC"/>
                          </a:solidFill>
                        </a:rPr>
                        <a:t>50.01</a:t>
                      </a:r>
                      <a:endParaRPr lang="en-US" sz="1400" dirty="0"/>
                    </a:p>
                  </a:txBody>
                  <a:tcPr marT="18288" marB="18288" anchor="ctr">
                    <a:lnL w="6350" cap="flat" cmpd="sng" algn="ctr">
                      <a:solidFill>
                        <a:srgbClr val="2A3750"/>
                      </a:solidFill>
                      <a:prstDash val="solid"/>
                      <a:round/>
                      <a:headEnd type="none" w="med" len="med"/>
                      <a:tailEnd type="none" w="med" len="med"/>
                    </a:lnL>
                    <a:lnR w="6350" cap="flat" cmpd="sng" algn="ctr">
                      <a:solidFill>
                        <a:srgbClr val="2A3750"/>
                      </a:solidFill>
                      <a:prstDash val="solid"/>
                      <a:round/>
                      <a:headEnd type="none" w="med" len="med"/>
                      <a:tailEnd type="none" w="med" len="med"/>
                    </a:lnR>
                    <a:lnT w="6350" cap="flat" cmpd="sng" algn="ctr">
                      <a:solidFill>
                        <a:srgbClr val="2A3750"/>
                      </a:solidFill>
                      <a:prstDash val="solid"/>
                      <a:round/>
                      <a:headEnd type="none" w="med" len="med"/>
                      <a:tailEnd type="none" w="med" len="med"/>
                    </a:lnT>
                    <a:lnB w="6350" cap="flat" cmpd="sng" algn="ctr">
                      <a:solidFill>
                        <a:srgbClr val="2A3750"/>
                      </a:solidFill>
                      <a:prstDash val="solid"/>
                      <a:round/>
                      <a:headEnd type="none" w="med" len="med"/>
                      <a:tailEnd type="none" w="med" len="med"/>
                    </a:lnB>
                    <a:solidFill>
                      <a:srgbClr val="131C2E"/>
                    </a:solidFill>
                  </a:tcPr>
                </a:tc>
                <a:extLst>
                  <a:ext uri="{0D108BD9-81ED-4DB2-BD59-A6C34878D82A}">
                    <a16:rowId xmlns:a16="http://schemas.microsoft.com/office/drawing/2014/main" val="10004"/>
                  </a:ext>
                </a:extLst>
              </a:tr>
            </a:tbl>
          </a:graphicData>
        </a:graphic>
      </p:graphicFrame>
      <p:sp>
        <p:nvSpPr>
          <p:cNvPr id="5" name="stat card 0.87 vs 0.72"/>
          <p:cNvSpPr/>
          <p:nvPr/>
        </p:nvSpPr>
        <p:spPr>
          <a:xfrm>
            <a:off x="457200" y="3200400"/>
            <a:ext cx="2103120" cy="1280160"/>
          </a:xfrm>
          <a:prstGeom prst="roundRect">
            <a:avLst>
              <a:gd name="adj" fmla="val 5714"/>
            </a:avLst>
          </a:prstGeom>
          <a:solidFill>
            <a:schemeClr val="tx2"/>
          </a:solidFill>
          <a:ln w="9525">
            <a:solidFill>
              <a:srgbClr val="2A3750"/>
            </a:solidFill>
            <a:prstDash val="solid"/>
          </a:ln>
        </p:spPr>
      </p:sp>
      <p:sp>
        <p:nvSpPr>
          <p:cNvPr id="6" name="Text 3"/>
          <p:cNvSpPr txBox="1"/>
          <p:nvPr/>
        </p:nvSpPr>
        <p:spPr>
          <a:xfrm>
            <a:off x="640080" y="3291840"/>
            <a:ext cx="1737360" cy="640080"/>
          </a:xfrm>
          <a:prstGeom prst="rect">
            <a:avLst/>
          </a:prstGeom>
          <a:noFill/>
          <a:ln/>
        </p:spPr>
        <p:txBody>
          <a:bodyPr wrap="square" lIns="0" tIns="0" rIns="0" bIns="0" rtlCol="0" anchor="ctr"/>
          <a:lstStyle/>
          <a:p>
            <a:pPr marL="0" indent="0">
              <a:buNone/>
            </a:pPr>
            <a:r>
              <a:rPr lang="en-US" sz="2400" b="1" dirty="0">
                <a:solidFill>
                  <a:schemeClr val="accent4"/>
                </a:solidFill>
                <a:latin typeface="Times New Roman" panose="02020603050405020304" pitchFamily="18" charset="0"/>
                <a:ea typeface="+mj-lt" pitchFamily="34" charset="-122"/>
                <a:cs typeface="Times New Roman" panose="02020603050405020304" pitchFamily="18" charset="0"/>
              </a:rPr>
              <a:t>0.87 vs 0.72</a:t>
            </a:r>
            <a:endParaRPr lang="en-US" sz="2400" dirty="0">
              <a:latin typeface="Times New Roman" panose="02020603050405020304" pitchFamily="18" charset="0"/>
              <a:cs typeface="Times New Roman" panose="02020603050405020304" pitchFamily="18" charset="0"/>
            </a:endParaRPr>
          </a:p>
        </p:txBody>
      </p:sp>
      <p:sp>
        <p:nvSpPr>
          <p:cNvPr id="7" name="Text 4"/>
          <p:cNvSpPr txBox="1"/>
          <p:nvPr/>
        </p:nvSpPr>
        <p:spPr>
          <a:xfrm>
            <a:off x="640080" y="4023360"/>
            <a:ext cx="1737360" cy="384048"/>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recall on AQI &gt; 200 days</a:t>
            </a:r>
            <a:endParaRPr lang="en-US" sz="1400" dirty="0">
              <a:latin typeface="Times New Roman" panose="02020603050405020304" pitchFamily="18" charset="0"/>
              <a:cs typeface="Times New Roman" panose="02020603050405020304" pitchFamily="18" charset="0"/>
            </a:endParaRPr>
          </a:p>
        </p:txBody>
      </p:sp>
      <p:sp>
        <p:nvSpPr>
          <p:cNvPr id="8" name="stat card 0.59 vs 0.72"/>
          <p:cNvSpPr/>
          <p:nvPr/>
        </p:nvSpPr>
        <p:spPr>
          <a:xfrm>
            <a:off x="2651760" y="3200400"/>
            <a:ext cx="2103120" cy="1280160"/>
          </a:xfrm>
          <a:prstGeom prst="roundRect">
            <a:avLst>
              <a:gd name="adj" fmla="val 5714"/>
            </a:avLst>
          </a:prstGeom>
          <a:solidFill>
            <a:schemeClr val="tx2"/>
          </a:solidFill>
          <a:ln w="9525">
            <a:solidFill>
              <a:srgbClr val="2A3750"/>
            </a:solidFill>
            <a:prstDash val="solid"/>
          </a:ln>
        </p:spPr>
      </p:sp>
      <p:sp>
        <p:nvSpPr>
          <p:cNvPr id="9" name="Text 6"/>
          <p:cNvSpPr txBox="1"/>
          <p:nvPr/>
        </p:nvSpPr>
        <p:spPr>
          <a:xfrm>
            <a:off x="2834640" y="3291840"/>
            <a:ext cx="1737360" cy="640080"/>
          </a:xfrm>
          <a:prstGeom prst="rect">
            <a:avLst/>
          </a:prstGeom>
          <a:noFill/>
          <a:ln/>
        </p:spPr>
        <p:txBody>
          <a:bodyPr wrap="square" lIns="0" tIns="0" rIns="0" bIns="0" rtlCol="0" anchor="ctr"/>
          <a:lstStyle/>
          <a:p>
            <a:pPr marL="0" indent="0">
              <a:buNone/>
            </a:pPr>
            <a:r>
              <a:rPr lang="en-US" sz="2400" b="1" dirty="0">
                <a:solidFill>
                  <a:schemeClr val="accent3"/>
                </a:solidFill>
                <a:latin typeface="Times New Roman" panose="02020603050405020304" pitchFamily="18" charset="0"/>
                <a:ea typeface="+mj-lt" pitchFamily="34" charset="-122"/>
                <a:cs typeface="Times New Roman" panose="02020603050405020304" pitchFamily="18" charset="0"/>
              </a:rPr>
              <a:t>0.59 vs 0.72</a:t>
            </a:r>
            <a:endParaRPr lang="en-US" sz="2400" dirty="0">
              <a:latin typeface="Times New Roman" panose="02020603050405020304" pitchFamily="18" charset="0"/>
              <a:cs typeface="Times New Roman" panose="02020603050405020304" pitchFamily="18" charset="0"/>
            </a:endParaRPr>
          </a:p>
        </p:txBody>
      </p:sp>
      <p:sp>
        <p:nvSpPr>
          <p:cNvPr id="4" name="Text 7"/>
          <p:cNvSpPr txBox="1"/>
          <p:nvPr/>
        </p:nvSpPr>
        <p:spPr>
          <a:xfrm>
            <a:off x="2834640" y="4023360"/>
            <a:ext cx="1737360" cy="384048"/>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precision: more false alarms</a:t>
            </a:r>
            <a:endParaRPr lang="en-US" sz="1400" dirty="0">
              <a:latin typeface="Times New Roman" panose="02020603050405020304" pitchFamily="18" charset="0"/>
              <a:cs typeface="Times New Roman" panose="02020603050405020304" pitchFamily="18" charset="0"/>
            </a:endParaRPr>
          </a:p>
        </p:txBody>
      </p:sp>
      <p:sp>
        <p:nvSpPr>
          <p:cNvPr id="11" name="Forecast performance tab with 2023 holdout chart frame"/>
          <p:cNvSpPr/>
          <p:nvPr/>
        </p:nvSpPr>
        <p:spPr>
          <a:xfrm>
            <a:off x="4956048" y="1115568"/>
            <a:ext cx="3758184" cy="2359152"/>
          </a:xfrm>
          <a:prstGeom prst="roundRect">
            <a:avLst>
              <a:gd name="adj" fmla="val 2909"/>
            </a:avLst>
          </a:prstGeom>
          <a:solidFill>
            <a:schemeClr val="tx2"/>
          </a:solidFill>
          <a:ln w="9525">
            <a:solidFill>
              <a:srgbClr val="2A3750"/>
            </a:solidFill>
            <a:prstDash val="solid"/>
          </a:ln>
        </p:spPr>
      </p:sp>
      <p:pic>
        <p:nvPicPr>
          <p:cNvPr id="12" name="Forecast performance tab with 2023 holdout chart" descr="Forecast performance tab with 2023 holdout chart"/>
          <p:cNvPicPr>
            <a:picLocks noChangeAspect="1"/>
          </p:cNvPicPr>
          <p:nvPr/>
        </p:nvPicPr>
        <p:blipFill>
          <a:blip r:embed="rId3"/>
          <a:stretch>
            <a:fillRect/>
          </a:stretch>
        </p:blipFill>
        <p:spPr>
          <a:xfrm>
            <a:off x="5029200" y="1188720"/>
            <a:ext cx="3611880" cy="2159391"/>
          </a:xfrm>
          <a:prstGeom prst="rect">
            <a:avLst/>
          </a:prstGeom>
        </p:spPr>
      </p:pic>
      <p:sp>
        <p:nvSpPr>
          <p:cNvPr id="13" name="Text 9"/>
          <p:cNvSpPr txBox="1"/>
          <p:nvPr/>
        </p:nvSpPr>
        <p:spPr>
          <a:xfrm>
            <a:off x="5029200" y="3749040"/>
            <a:ext cx="3611880" cy="731520"/>
          </a:xfrm>
          <a:prstGeom prst="rect">
            <a:avLst/>
          </a:prstGeom>
          <a:noFill/>
          <a:ln/>
        </p:spPr>
        <p:txBody>
          <a:bodyPr wrap="square" lIns="0" tIns="0" rIns="0" bIns="0" rtlCol="0" anchor="t"/>
          <a:lstStyle/>
          <a:p>
            <a:pPr marL="0" indent="0">
              <a:buNone/>
            </a:pPr>
            <a:r>
              <a:rPr lang="en-US" sz="1400" b="1" dirty="0">
                <a:solidFill>
                  <a:schemeClr val="bg2"/>
                </a:solidFill>
                <a:latin typeface="Times New Roman" panose="02020603050405020304" pitchFamily="18" charset="0"/>
                <a:cs typeface="Times New Roman" panose="02020603050405020304" pitchFamily="18" charset="0"/>
              </a:rPr>
              <a:t>Classifier vs persistence. PR-AUC 0.81, ROC-AUC 0.95. The 80% interval covered 74.1%: exploratory only.</a:t>
            </a:r>
            <a:endParaRPr lang="en-US" sz="1400" b="1" dirty="0">
              <a:latin typeface="Times New Roman" panose="02020603050405020304" pitchFamily="18" charset="0"/>
              <a:cs typeface="Times New Roman" panose="02020603050405020304" pitchFamily="18" charset="0"/>
            </a:endParaRPr>
          </a:p>
        </p:txBody>
      </p:sp>
      <p:sp>
        <p:nvSpPr>
          <p:cNvPr id="14" name="Text 10"/>
          <p:cNvSpPr txBox="1"/>
          <p:nvPr/>
        </p:nvSpPr>
        <p:spPr>
          <a:xfrm>
            <a:off x="1055077" y="4572000"/>
            <a:ext cx="7498080" cy="274320"/>
          </a:xfrm>
          <a:prstGeom prst="rect">
            <a:avLst/>
          </a:prstGeom>
          <a:noFill/>
          <a:ln/>
        </p:spPr>
        <p:txBody>
          <a:bodyPr wrap="square" lIns="0" tIns="0" rIns="0" bIns="0" rtlCol="0" anchor="t"/>
          <a:lstStyle/>
          <a:p>
            <a:pPr marL="0" indent="0">
              <a:buNone/>
            </a:pPr>
            <a:r>
              <a:rPr lang="en-US" sz="1600" b="1" dirty="0">
                <a:solidFill>
                  <a:schemeClr val="accent2"/>
                </a:solidFill>
                <a:latin typeface="Times New Roman" panose="02020603050405020304" pitchFamily="18" charset="0"/>
                <a:cs typeface="Times New Roman" panose="02020603050405020304" pitchFamily="18" charset="0"/>
              </a:rPr>
              <a:t>On MAE, no point forecaster beats yesterday's value, and we say so.</a:t>
            </a:r>
            <a:endParaRPr lang="en-US" sz="16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021176" y="254977"/>
            <a:ext cx="4910328" cy="685800"/>
          </a:xfrm>
          <a:prstGeom prst="rect">
            <a:avLst/>
          </a:prstGeom>
          <a:noFill/>
          <a:ln/>
        </p:spPr>
        <p:txBody>
          <a:bodyPr wrap="square" lIns="0" tIns="0" rIns="0" bIns="0" rtlCol="0" anchor="ctr"/>
          <a:lstStyle/>
          <a:p>
            <a:pPr marL="0" indent="0" algn="l">
              <a:buNone/>
            </a:pPr>
            <a:r>
              <a:rPr lang="en-US" sz="3200" b="1" dirty="0">
                <a:solidFill>
                  <a:schemeClr val="bg1"/>
                </a:solidFill>
                <a:latin typeface="Times New Roman" panose="02020603050405020304" pitchFamily="18" charset="0"/>
                <a:cs typeface="Times New Roman" panose="02020603050405020304" pitchFamily="18" charset="0"/>
              </a:rPr>
              <a:t>Limits and responsible use</a:t>
            </a:r>
            <a:endParaRPr lang="en-US" sz="3200" dirty="0">
              <a:latin typeface="Times New Roman" panose="02020603050405020304" pitchFamily="18" charset="0"/>
              <a:cs typeface="Times New Roman" panose="02020603050405020304" pitchFamily="18" charset="0"/>
            </a:endParaRPr>
          </a:p>
        </p:txBody>
      </p:sp>
      <p:sp>
        <p:nvSpPr>
          <p:cNvPr id="3" name="limit card Hard to beat persistence"/>
          <p:cNvSpPr/>
          <p:nvPr/>
        </p:nvSpPr>
        <p:spPr>
          <a:xfrm>
            <a:off x="457200" y="1188720"/>
            <a:ext cx="2651760" cy="1645920"/>
          </a:xfrm>
          <a:prstGeom prst="roundRect">
            <a:avLst>
              <a:gd name="adj" fmla="val 4444"/>
            </a:avLst>
          </a:prstGeom>
          <a:solidFill>
            <a:schemeClr val="tx2"/>
          </a:solidFill>
          <a:ln w="9525">
            <a:solidFill>
              <a:srgbClr val="2A3750"/>
            </a:solidFill>
            <a:prstDash val="solid"/>
          </a:ln>
        </p:spPr>
      </p:sp>
      <p:sp>
        <p:nvSpPr>
          <p:cNvPr id="4" name="icon circle Hard to beat persistence"/>
          <p:cNvSpPr/>
          <p:nvPr/>
        </p:nvSpPr>
        <p:spPr>
          <a:xfrm>
            <a:off x="594360" y="1325880"/>
            <a:ext cx="411480" cy="411480"/>
          </a:xfrm>
          <a:prstGeom prst="ellipse">
            <a:avLst/>
          </a:prstGeom>
          <a:solidFill>
            <a:schemeClr val="accent2"/>
          </a:solidFill>
          <a:ln w="12700">
            <a:solidFill>
              <a:schemeClr val="accent2"/>
            </a:solidFill>
            <a:prstDash val="solid"/>
          </a:ln>
        </p:spPr>
      </p:sp>
      <p:pic>
        <p:nvPicPr>
          <p:cNvPr id="5" name="icon Hard to beat persistence" descr="Hard to beat persistence"/>
          <p:cNvPicPr>
            <a:picLocks noChangeAspect="1"/>
          </p:cNvPicPr>
          <p:nvPr/>
        </p:nvPicPr>
        <p:blipFill>
          <a:blip r:embed="rId3"/>
          <a:stretch>
            <a:fillRect/>
          </a:stretch>
        </p:blipFill>
        <p:spPr>
          <a:xfrm>
            <a:off x="685800" y="1417320"/>
            <a:ext cx="228600" cy="228600"/>
          </a:xfrm>
          <a:prstGeom prst="rect">
            <a:avLst/>
          </a:prstGeom>
        </p:spPr>
      </p:pic>
      <p:sp>
        <p:nvSpPr>
          <p:cNvPr id="6" name="Text 3"/>
          <p:cNvSpPr txBox="1"/>
          <p:nvPr/>
        </p:nvSpPr>
        <p:spPr>
          <a:xfrm>
            <a:off x="1115568" y="132588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Hard to beat persistence</a:t>
            </a:r>
            <a:endParaRPr lang="en-US" sz="1600" dirty="0">
              <a:latin typeface="Times New Roman" panose="02020603050405020304" pitchFamily="18" charset="0"/>
              <a:cs typeface="Times New Roman" panose="02020603050405020304" pitchFamily="18" charset="0"/>
            </a:endParaRPr>
          </a:p>
        </p:txBody>
      </p:sp>
      <p:sp>
        <p:nvSpPr>
          <p:cNvPr id="7" name="Text 4"/>
          <p:cNvSpPr txBox="1"/>
          <p:nvPr/>
        </p:nvSpPr>
        <p:spPr>
          <a:xfrm>
            <a:off x="594360" y="187452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Daily AQI is strongly autoregressive; no point model beat yesterday.</a:t>
            </a:r>
            <a:endParaRPr lang="en-US" sz="1400" dirty="0">
              <a:latin typeface="Times New Roman" panose="02020603050405020304" pitchFamily="18" charset="0"/>
              <a:cs typeface="Times New Roman" panose="02020603050405020304" pitchFamily="18" charset="0"/>
            </a:endParaRPr>
          </a:p>
        </p:txBody>
      </p:sp>
      <p:sp>
        <p:nvSpPr>
          <p:cNvPr id="8" name="limit card Ranges under-cover"/>
          <p:cNvSpPr/>
          <p:nvPr/>
        </p:nvSpPr>
        <p:spPr>
          <a:xfrm>
            <a:off x="3246120" y="1188720"/>
            <a:ext cx="2651760" cy="1645920"/>
          </a:xfrm>
          <a:prstGeom prst="roundRect">
            <a:avLst>
              <a:gd name="adj" fmla="val 4444"/>
            </a:avLst>
          </a:prstGeom>
          <a:solidFill>
            <a:schemeClr val="tx2"/>
          </a:solidFill>
          <a:ln w="9525">
            <a:solidFill>
              <a:srgbClr val="2A3750"/>
            </a:solidFill>
            <a:prstDash val="solid"/>
          </a:ln>
        </p:spPr>
      </p:sp>
      <p:sp>
        <p:nvSpPr>
          <p:cNvPr id="9" name="icon circle Ranges under-cover"/>
          <p:cNvSpPr/>
          <p:nvPr/>
        </p:nvSpPr>
        <p:spPr>
          <a:xfrm>
            <a:off x="3383280" y="1325880"/>
            <a:ext cx="411480" cy="411480"/>
          </a:xfrm>
          <a:prstGeom prst="ellipse">
            <a:avLst/>
          </a:prstGeom>
          <a:solidFill>
            <a:schemeClr val="accent3"/>
          </a:solidFill>
          <a:ln w="12700">
            <a:solidFill>
              <a:schemeClr val="accent3"/>
            </a:solidFill>
            <a:prstDash val="solid"/>
          </a:ln>
        </p:spPr>
      </p:sp>
      <p:pic>
        <p:nvPicPr>
          <p:cNvPr id="10" name="icon Ranges under-cover" descr="Ranges under-cover"/>
          <p:cNvPicPr>
            <a:picLocks noChangeAspect="1"/>
          </p:cNvPicPr>
          <p:nvPr/>
        </p:nvPicPr>
        <p:blipFill>
          <a:blip r:embed="rId4"/>
          <a:stretch>
            <a:fillRect/>
          </a:stretch>
        </p:blipFill>
        <p:spPr>
          <a:xfrm>
            <a:off x="3474720" y="1417320"/>
            <a:ext cx="228600" cy="228600"/>
          </a:xfrm>
          <a:prstGeom prst="rect">
            <a:avLst/>
          </a:prstGeom>
        </p:spPr>
      </p:pic>
      <p:sp>
        <p:nvSpPr>
          <p:cNvPr id="11" name="Text 7"/>
          <p:cNvSpPr txBox="1"/>
          <p:nvPr/>
        </p:nvSpPr>
        <p:spPr>
          <a:xfrm>
            <a:off x="3904488" y="132588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Ranges under-cover</a:t>
            </a:r>
            <a:endParaRPr lang="en-US" sz="1600" dirty="0">
              <a:latin typeface="Times New Roman" panose="02020603050405020304" pitchFamily="18" charset="0"/>
              <a:cs typeface="Times New Roman" panose="02020603050405020304" pitchFamily="18" charset="0"/>
            </a:endParaRPr>
          </a:p>
        </p:txBody>
      </p:sp>
      <p:sp>
        <p:nvSpPr>
          <p:cNvPr id="12" name="Text 8"/>
          <p:cNvSpPr txBox="1"/>
          <p:nvPr/>
        </p:nvSpPr>
        <p:spPr>
          <a:xfrm>
            <a:off x="3383280" y="187452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The nominal 80% range covered 74.1%. Exploratory, not a guarantee.</a:t>
            </a:r>
            <a:endParaRPr lang="en-US" sz="1400" dirty="0">
              <a:latin typeface="Times New Roman" panose="02020603050405020304" pitchFamily="18" charset="0"/>
              <a:cs typeface="Times New Roman" panose="02020603050405020304" pitchFamily="18" charset="0"/>
            </a:endParaRPr>
          </a:p>
        </p:txBody>
      </p:sp>
      <p:sp>
        <p:nvSpPr>
          <p:cNvPr id="13" name="limit card Historical replay"/>
          <p:cNvSpPr/>
          <p:nvPr/>
        </p:nvSpPr>
        <p:spPr>
          <a:xfrm>
            <a:off x="6035040" y="1188720"/>
            <a:ext cx="2651760" cy="1645920"/>
          </a:xfrm>
          <a:prstGeom prst="roundRect">
            <a:avLst>
              <a:gd name="adj" fmla="val 4444"/>
            </a:avLst>
          </a:prstGeom>
          <a:solidFill>
            <a:schemeClr val="tx2"/>
          </a:solidFill>
          <a:ln w="9525">
            <a:solidFill>
              <a:srgbClr val="2A3750"/>
            </a:solidFill>
            <a:prstDash val="solid"/>
          </a:ln>
        </p:spPr>
      </p:sp>
      <p:sp>
        <p:nvSpPr>
          <p:cNvPr id="14" name="icon circle Historical replay"/>
          <p:cNvSpPr/>
          <p:nvPr/>
        </p:nvSpPr>
        <p:spPr>
          <a:xfrm>
            <a:off x="6172200" y="1325880"/>
            <a:ext cx="411480" cy="411480"/>
          </a:xfrm>
          <a:prstGeom prst="ellipse">
            <a:avLst/>
          </a:prstGeom>
          <a:solidFill>
            <a:schemeClr val="accent1"/>
          </a:solidFill>
          <a:ln w="12700">
            <a:solidFill>
              <a:schemeClr val="accent1"/>
            </a:solidFill>
            <a:prstDash val="solid"/>
          </a:ln>
        </p:spPr>
      </p:sp>
      <p:pic>
        <p:nvPicPr>
          <p:cNvPr id="15" name="icon Historical replay" descr="Historical replay"/>
          <p:cNvPicPr>
            <a:picLocks noChangeAspect="1"/>
          </p:cNvPicPr>
          <p:nvPr/>
        </p:nvPicPr>
        <p:blipFill>
          <a:blip r:embed="rId5"/>
          <a:stretch>
            <a:fillRect/>
          </a:stretch>
        </p:blipFill>
        <p:spPr>
          <a:xfrm>
            <a:off x="6263640" y="1417320"/>
            <a:ext cx="228600" cy="228600"/>
          </a:xfrm>
          <a:prstGeom prst="rect">
            <a:avLst/>
          </a:prstGeom>
        </p:spPr>
      </p:pic>
      <p:sp>
        <p:nvSpPr>
          <p:cNvPr id="16" name="Text 11"/>
          <p:cNvSpPr txBox="1"/>
          <p:nvPr/>
        </p:nvSpPr>
        <p:spPr>
          <a:xfrm>
            <a:off x="6693408" y="132588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Historical replay</a:t>
            </a:r>
            <a:endParaRPr lang="en-US" sz="1600" dirty="0">
              <a:latin typeface="Times New Roman" panose="02020603050405020304" pitchFamily="18" charset="0"/>
              <a:cs typeface="Times New Roman" panose="02020603050405020304" pitchFamily="18" charset="0"/>
            </a:endParaRPr>
          </a:p>
        </p:txBody>
      </p:sp>
      <p:sp>
        <p:nvSpPr>
          <p:cNvPr id="17" name="Text 12"/>
          <p:cNvSpPr txBox="1"/>
          <p:nvPr/>
        </p:nvSpPr>
        <p:spPr>
          <a:xfrm>
            <a:off x="6172200" y="187452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Data runs 2021–2023. The app replays history; it is not a live alert.</a:t>
            </a:r>
            <a:endParaRPr lang="en-US" sz="1400" dirty="0">
              <a:latin typeface="Times New Roman" panose="02020603050405020304" pitchFamily="18" charset="0"/>
              <a:cs typeface="Times New Roman" panose="02020603050405020304" pitchFamily="18" charset="0"/>
            </a:endParaRPr>
          </a:p>
        </p:txBody>
      </p:sp>
      <p:sp>
        <p:nvSpPr>
          <p:cNvPr id="18" name="limit card Point stations"/>
          <p:cNvSpPr/>
          <p:nvPr/>
        </p:nvSpPr>
        <p:spPr>
          <a:xfrm>
            <a:off x="457200" y="2971800"/>
            <a:ext cx="2651760" cy="1645920"/>
          </a:xfrm>
          <a:prstGeom prst="roundRect">
            <a:avLst>
              <a:gd name="adj" fmla="val 4444"/>
            </a:avLst>
          </a:prstGeom>
          <a:solidFill>
            <a:schemeClr val="tx2"/>
          </a:solidFill>
          <a:ln w="9525">
            <a:solidFill>
              <a:srgbClr val="2A3750"/>
            </a:solidFill>
            <a:prstDash val="solid"/>
          </a:ln>
        </p:spPr>
      </p:sp>
      <p:sp>
        <p:nvSpPr>
          <p:cNvPr id="19" name="icon circle Point stations"/>
          <p:cNvSpPr/>
          <p:nvPr/>
        </p:nvSpPr>
        <p:spPr>
          <a:xfrm>
            <a:off x="594360" y="3108960"/>
            <a:ext cx="411480" cy="411480"/>
          </a:xfrm>
          <a:prstGeom prst="ellipse">
            <a:avLst/>
          </a:prstGeom>
          <a:solidFill>
            <a:schemeClr val="accent6"/>
          </a:solidFill>
          <a:ln w="12700">
            <a:solidFill>
              <a:schemeClr val="accent6"/>
            </a:solidFill>
            <a:prstDash val="solid"/>
          </a:ln>
        </p:spPr>
      </p:sp>
      <p:pic>
        <p:nvPicPr>
          <p:cNvPr id="20" name="icon Point stations" descr="Point stations"/>
          <p:cNvPicPr>
            <a:picLocks noChangeAspect="1"/>
          </p:cNvPicPr>
          <p:nvPr/>
        </p:nvPicPr>
        <p:blipFill>
          <a:blip r:embed="rId6"/>
          <a:stretch>
            <a:fillRect/>
          </a:stretch>
        </p:blipFill>
        <p:spPr>
          <a:xfrm>
            <a:off x="685800" y="3200400"/>
            <a:ext cx="228600" cy="228600"/>
          </a:xfrm>
          <a:prstGeom prst="rect">
            <a:avLst/>
          </a:prstGeom>
        </p:spPr>
      </p:pic>
      <p:sp>
        <p:nvSpPr>
          <p:cNvPr id="21" name="Text 15"/>
          <p:cNvSpPr txBox="1"/>
          <p:nvPr/>
        </p:nvSpPr>
        <p:spPr>
          <a:xfrm>
            <a:off x="1115568" y="310896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Point stations</a:t>
            </a:r>
            <a:endParaRPr lang="en-US" sz="1600" dirty="0">
              <a:latin typeface="Times New Roman" panose="02020603050405020304" pitchFamily="18" charset="0"/>
              <a:cs typeface="Times New Roman" panose="02020603050405020304" pitchFamily="18" charset="0"/>
            </a:endParaRPr>
          </a:p>
        </p:txBody>
      </p:sp>
      <p:sp>
        <p:nvSpPr>
          <p:cNvPr id="22" name="Text 16"/>
          <p:cNvSpPr txBox="1"/>
          <p:nvPr/>
        </p:nvSpPr>
        <p:spPr>
          <a:xfrm>
            <a:off x="594360" y="365760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Stations cluster on highways; unmonitored wards need proxies.</a:t>
            </a:r>
            <a:endParaRPr lang="en-US" sz="1400" dirty="0">
              <a:latin typeface="Times New Roman" panose="02020603050405020304" pitchFamily="18" charset="0"/>
              <a:cs typeface="Times New Roman" panose="02020603050405020304" pitchFamily="18" charset="0"/>
            </a:endParaRPr>
          </a:p>
        </p:txBody>
      </p:sp>
      <p:sp>
        <p:nvSpPr>
          <p:cNvPr id="23" name="limit card Not causal"/>
          <p:cNvSpPr/>
          <p:nvPr/>
        </p:nvSpPr>
        <p:spPr>
          <a:xfrm>
            <a:off x="3246120" y="2971800"/>
            <a:ext cx="2651760" cy="1645920"/>
          </a:xfrm>
          <a:prstGeom prst="roundRect">
            <a:avLst>
              <a:gd name="adj" fmla="val 4444"/>
            </a:avLst>
          </a:prstGeom>
          <a:solidFill>
            <a:schemeClr val="tx2"/>
          </a:solidFill>
          <a:ln w="9525">
            <a:solidFill>
              <a:srgbClr val="2A3750"/>
            </a:solidFill>
            <a:prstDash val="solid"/>
          </a:ln>
        </p:spPr>
      </p:sp>
      <p:sp>
        <p:nvSpPr>
          <p:cNvPr id="24" name="icon circle Not causal"/>
          <p:cNvSpPr/>
          <p:nvPr/>
        </p:nvSpPr>
        <p:spPr>
          <a:xfrm>
            <a:off x="3383280" y="3108960"/>
            <a:ext cx="411480" cy="411480"/>
          </a:xfrm>
          <a:prstGeom prst="ellipse">
            <a:avLst/>
          </a:prstGeom>
          <a:solidFill>
            <a:schemeClr val="accent5"/>
          </a:solidFill>
          <a:ln w="12700">
            <a:solidFill>
              <a:schemeClr val="accent5"/>
            </a:solidFill>
            <a:prstDash val="solid"/>
          </a:ln>
        </p:spPr>
      </p:sp>
      <p:pic>
        <p:nvPicPr>
          <p:cNvPr id="25" name="icon Not causal" descr="Not causal"/>
          <p:cNvPicPr>
            <a:picLocks noChangeAspect="1"/>
          </p:cNvPicPr>
          <p:nvPr/>
        </p:nvPicPr>
        <p:blipFill>
          <a:blip r:embed="rId7"/>
          <a:stretch>
            <a:fillRect/>
          </a:stretch>
        </p:blipFill>
        <p:spPr>
          <a:xfrm>
            <a:off x="3474720" y="3200400"/>
            <a:ext cx="228600" cy="228600"/>
          </a:xfrm>
          <a:prstGeom prst="rect">
            <a:avLst/>
          </a:prstGeom>
        </p:spPr>
      </p:pic>
      <p:sp>
        <p:nvSpPr>
          <p:cNvPr id="26" name="Text 19"/>
          <p:cNvSpPr txBox="1"/>
          <p:nvPr/>
        </p:nvSpPr>
        <p:spPr>
          <a:xfrm>
            <a:off x="3904488" y="310896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Not causal</a:t>
            </a:r>
            <a:endParaRPr lang="en-US" sz="1600" dirty="0">
              <a:latin typeface="Times New Roman" panose="02020603050405020304" pitchFamily="18" charset="0"/>
              <a:cs typeface="Times New Roman" panose="02020603050405020304" pitchFamily="18" charset="0"/>
            </a:endParaRPr>
          </a:p>
        </p:txBody>
      </p:sp>
      <p:sp>
        <p:nvSpPr>
          <p:cNvPr id="27" name="Text 20"/>
          <p:cNvSpPr txBox="1"/>
          <p:nvPr/>
        </p:nvSpPr>
        <p:spPr>
          <a:xfrm>
            <a:off x="3383280" y="365760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Diwali 2023 showed no clear effect (AQI −8); weather may mask it.</a:t>
            </a:r>
            <a:endParaRPr lang="en-US" sz="1400" dirty="0">
              <a:latin typeface="Times New Roman" panose="02020603050405020304" pitchFamily="18" charset="0"/>
              <a:cs typeface="Times New Roman" panose="02020603050405020304" pitchFamily="18" charset="0"/>
            </a:endParaRPr>
          </a:p>
        </p:txBody>
      </p:sp>
      <p:sp>
        <p:nvSpPr>
          <p:cNvPr id="28" name="limit card Triage, not enforcement"/>
          <p:cNvSpPr/>
          <p:nvPr/>
        </p:nvSpPr>
        <p:spPr>
          <a:xfrm>
            <a:off x="6035040" y="2971800"/>
            <a:ext cx="2651760" cy="1645920"/>
          </a:xfrm>
          <a:prstGeom prst="roundRect">
            <a:avLst>
              <a:gd name="adj" fmla="val 4444"/>
            </a:avLst>
          </a:prstGeom>
          <a:solidFill>
            <a:schemeClr val="tx2"/>
          </a:solidFill>
          <a:ln w="9525">
            <a:solidFill>
              <a:srgbClr val="2A3750"/>
            </a:solidFill>
            <a:prstDash val="solid"/>
          </a:ln>
        </p:spPr>
      </p:sp>
      <p:sp>
        <p:nvSpPr>
          <p:cNvPr id="29" name="icon circle Triage, not enforcement"/>
          <p:cNvSpPr/>
          <p:nvPr/>
        </p:nvSpPr>
        <p:spPr>
          <a:xfrm>
            <a:off x="6172200" y="3108960"/>
            <a:ext cx="411480" cy="411480"/>
          </a:xfrm>
          <a:prstGeom prst="ellipse">
            <a:avLst/>
          </a:prstGeom>
          <a:solidFill>
            <a:schemeClr val="accent4"/>
          </a:solidFill>
          <a:ln w="12700">
            <a:solidFill>
              <a:schemeClr val="accent4"/>
            </a:solidFill>
            <a:prstDash val="solid"/>
          </a:ln>
        </p:spPr>
      </p:sp>
      <p:pic>
        <p:nvPicPr>
          <p:cNvPr id="30" name="icon Triage, not enforcement" descr="Triage, not enforcement"/>
          <p:cNvPicPr>
            <a:picLocks noChangeAspect="1"/>
          </p:cNvPicPr>
          <p:nvPr/>
        </p:nvPicPr>
        <p:blipFill>
          <a:blip r:embed="rId8"/>
          <a:stretch>
            <a:fillRect/>
          </a:stretch>
        </p:blipFill>
        <p:spPr>
          <a:xfrm>
            <a:off x="6263640" y="3200400"/>
            <a:ext cx="228600" cy="228600"/>
          </a:xfrm>
          <a:prstGeom prst="rect">
            <a:avLst/>
          </a:prstGeom>
        </p:spPr>
      </p:pic>
      <p:sp>
        <p:nvSpPr>
          <p:cNvPr id="31" name="Text 23"/>
          <p:cNvSpPr txBox="1"/>
          <p:nvPr/>
        </p:nvSpPr>
        <p:spPr>
          <a:xfrm>
            <a:off x="6693408" y="3108960"/>
            <a:ext cx="1874520" cy="4114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Triage, not enforcement</a:t>
            </a:r>
            <a:endParaRPr lang="en-US" sz="1600" dirty="0">
              <a:latin typeface="Times New Roman" panose="02020603050405020304" pitchFamily="18" charset="0"/>
              <a:cs typeface="Times New Roman" panose="02020603050405020304" pitchFamily="18" charset="0"/>
            </a:endParaRPr>
          </a:p>
        </p:txBody>
      </p:sp>
      <p:sp>
        <p:nvSpPr>
          <p:cNvPr id="32" name="Text 24"/>
          <p:cNvSpPr txBox="1"/>
          <p:nvPr/>
        </p:nvSpPr>
        <p:spPr>
          <a:xfrm>
            <a:off x="6172200" y="3657600"/>
            <a:ext cx="2377440" cy="914400"/>
          </a:xfrm>
          <a:prstGeom prst="rect">
            <a:avLst/>
          </a:prstGeom>
          <a:noFill/>
          <a:ln/>
        </p:spPr>
        <p:txBody>
          <a:bodyPr wrap="square" lIns="0" tIns="0" rIns="0" bIns="0" rtlCol="0" anchor="t"/>
          <a:lstStyle/>
          <a:p>
            <a:pPr marL="0" indent="0">
              <a:buNone/>
            </a:pPr>
            <a:r>
              <a:rPr lang="en-US" sz="1400" dirty="0">
                <a:solidFill>
                  <a:schemeClr val="bg2"/>
                </a:solidFill>
                <a:latin typeface="Times New Roman" panose="02020603050405020304" pitchFamily="18" charset="0"/>
                <a:cs typeface="Times New Roman" panose="02020603050405020304" pitchFamily="18" charset="0"/>
              </a:rPr>
              <a:t>Guides inspections. Never the sole basis for punitive action.</a:t>
            </a:r>
            <a:endParaRPr lang="en-US" sz="1400" dirty="0">
              <a:latin typeface="Times New Roman" panose="02020603050405020304" pitchFamily="18" charset="0"/>
              <a:cs typeface="Times New Roman" panose="02020603050405020304" pitchFamily="18" charset="0"/>
            </a:endParaRPr>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8046720" cy="1508760"/>
          </a:xfrm>
          <a:prstGeom prst="rect">
            <a:avLst/>
          </a:prstGeom>
          <a:noFill/>
          <a:ln/>
        </p:spPr>
        <p:txBody>
          <a:bodyPr wrap="square" lIns="0" tIns="0" rIns="0" bIns="0" rtlCol="0" anchor="t"/>
          <a:lstStyle/>
          <a:p>
            <a:pPr marL="0" indent="0" algn="l">
              <a:buNone/>
            </a:pPr>
            <a:r>
              <a:rPr lang="en-US" sz="3000" b="1" dirty="0">
                <a:solidFill>
                  <a:schemeClr val="bg1"/>
                </a:solidFill>
                <a:latin typeface="Times New Roman" panose="02020603050405020304" pitchFamily="18" charset="0"/>
                <a:cs typeface="Times New Roman" panose="02020603050405020304" pitchFamily="18" charset="0"/>
              </a:rPr>
              <a:t>Limited resources should go where the evidence points, and every ranking should come with its reasons.</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794825" y="2263140"/>
            <a:ext cx="6428935" cy="274320"/>
          </a:xfrm>
          <a:prstGeom prst="rect">
            <a:avLst/>
          </a:prstGeom>
          <a:noFill/>
          <a:ln/>
        </p:spPr>
        <p:txBody>
          <a:bodyPr wrap="square" lIns="0" tIns="0" rIns="0" bIns="0" rtlCol="0" anchor="t"/>
          <a:lstStyle/>
          <a:p>
            <a:pPr marL="0" indent="0">
              <a:buNone/>
            </a:pPr>
            <a:r>
              <a:rPr lang="en-US" sz="1400" b="1" kern="0" spc="200" dirty="0">
                <a:solidFill>
                  <a:schemeClr val="accent2"/>
                </a:solidFill>
                <a:latin typeface="Times New Roman" panose="02020603050405020304" pitchFamily="18" charset="0"/>
                <a:cs typeface="Times New Roman" panose="02020603050405020304" pitchFamily="18" charset="0"/>
              </a:rPr>
              <a:t>NEXT: DATA THAT WOULD IMPROVE CONFIDENCE</a:t>
            </a:r>
            <a:endParaRPr lang="en-US" sz="1400" dirty="0">
              <a:latin typeface="Times New Roman" panose="02020603050405020304" pitchFamily="18" charset="0"/>
              <a:cs typeface="Times New Roman" panose="02020603050405020304" pitchFamily="18" charset="0"/>
            </a:endParaRPr>
          </a:p>
        </p:txBody>
      </p:sp>
      <p:sp>
        <p:nvSpPr>
          <p:cNvPr id="4" name="chip Satellite AOD"/>
          <p:cNvSpPr/>
          <p:nvPr/>
        </p:nvSpPr>
        <p:spPr>
          <a:xfrm>
            <a:off x="548640" y="2834640"/>
            <a:ext cx="1874520" cy="548640"/>
          </a:xfrm>
          <a:prstGeom prst="roundRect">
            <a:avLst>
              <a:gd name="adj" fmla="val 13333"/>
            </a:avLst>
          </a:prstGeom>
          <a:solidFill>
            <a:schemeClr val="tx2"/>
          </a:solidFill>
          <a:ln w="9525">
            <a:solidFill>
              <a:srgbClr val="2A3750"/>
            </a:solidFill>
            <a:prstDash val="solid"/>
          </a:ln>
        </p:spPr>
      </p:sp>
      <p:sp>
        <p:nvSpPr>
          <p:cNvPr id="5" name="Text 3"/>
          <p:cNvSpPr txBox="1"/>
          <p:nvPr/>
        </p:nvSpPr>
        <p:spPr>
          <a:xfrm>
            <a:off x="548640" y="2834640"/>
            <a:ext cx="187452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Satellite AOD</a:t>
            </a:r>
            <a:endParaRPr lang="en-US" sz="1400" dirty="0">
              <a:latin typeface="Times New Roman" panose="02020603050405020304" pitchFamily="18" charset="0"/>
              <a:cs typeface="Times New Roman" panose="02020603050405020304" pitchFamily="18" charset="0"/>
            </a:endParaRPr>
          </a:p>
        </p:txBody>
      </p:sp>
      <p:sp>
        <p:nvSpPr>
          <p:cNvPr id="6" name="chip Denser local sensors"/>
          <p:cNvSpPr/>
          <p:nvPr/>
        </p:nvSpPr>
        <p:spPr>
          <a:xfrm>
            <a:off x="2560320" y="2834640"/>
            <a:ext cx="1874520" cy="548640"/>
          </a:xfrm>
          <a:prstGeom prst="roundRect">
            <a:avLst>
              <a:gd name="adj" fmla="val 13333"/>
            </a:avLst>
          </a:prstGeom>
          <a:solidFill>
            <a:schemeClr val="tx2"/>
          </a:solidFill>
          <a:ln w="9525">
            <a:solidFill>
              <a:srgbClr val="2A3750"/>
            </a:solidFill>
            <a:prstDash val="solid"/>
          </a:ln>
        </p:spPr>
      </p:sp>
      <p:sp>
        <p:nvSpPr>
          <p:cNvPr id="7" name="Text 5"/>
          <p:cNvSpPr txBox="1"/>
          <p:nvPr/>
        </p:nvSpPr>
        <p:spPr>
          <a:xfrm>
            <a:off x="2560320" y="2834640"/>
            <a:ext cx="187452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Denser local sensors</a:t>
            </a:r>
            <a:endParaRPr lang="en-US" sz="1400" dirty="0">
              <a:latin typeface="Times New Roman" panose="02020603050405020304" pitchFamily="18" charset="0"/>
              <a:cs typeface="Times New Roman" panose="02020603050405020304" pitchFamily="18" charset="0"/>
            </a:endParaRPr>
          </a:p>
        </p:txBody>
      </p:sp>
      <p:sp>
        <p:nvSpPr>
          <p:cNvPr id="8" name="chip Live traffic data"/>
          <p:cNvSpPr/>
          <p:nvPr/>
        </p:nvSpPr>
        <p:spPr>
          <a:xfrm>
            <a:off x="4572000" y="2834640"/>
            <a:ext cx="1874520" cy="548640"/>
          </a:xfrm>
          <a:prstGeom prst="roundRect">
            <a:avLst>
              <a:gd name="adj" fmla="val 13333"/>
            </a:avLst>
          </a:prstGeom>
          <a:solidFill>
            <a:schemeClr val="tx2"/>
          </a:solidFill>
          <a:ln w="9525">
            <a:solidFill>
              <a:srgbClr val="2A3750"/>
            </a:solidFill>
            <a:prstDash val="solid"/>
          </a:ln>
        </p:spPr>
      </p:sp>
      <p:sp>
        <p:nvSpPr>
          <p:cNvPr id="9" name="Text 7"/>
          <p:cNvSpPr txBox="1"/>
          <p:nvPr/>
        </p:nvSpPr>
        <p:spPr>
          <a:xfrm>
            <a:off x="4572000" y="2834640"/>
            <a:ext cx="187452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Live traffic data</a:t>
            </a:r>
            <a:endParaRPr lang="en-US" sz="1400" dirty="0">
              <a:latin typeface="Times New Roman" panose="02020603050405020304" pitchFamily="18" charset="0"/>
              <a:cs typeface="Times New Roman" panose="02020603050405020304" pitchFamily="18" charset="0"/>
            </a:endParaRPr>
          </a:p>
        </p:txBody>
      </p:sp>
      <p:sp>
        <p:nvSpPr>
          <p:cNvPr id="10" name="chip Construction permits"/>
          <p:cNvSpPr/>
          <p:nvPr/>
        </p:nvSpPr>
        <p:spPr>
          <a:xfrm>
            <a:off x="6583680" y="2834640"/>
            <a:ext cx="1874520" cy="548640"/>
          </a:xfrm>
          <a:prstGeom prst="roundRect">
            <a:avLst>
              <a:gd name="adj" fmla="val 13333"/>
            </a:avLst>
          </a:prstGeom>
          <a:solidFill>
            <a:schemeClr val="tx2"/>
          </a:solidFill>
          <a:ln w="9525">
            <a:solidFill>
              <a:srgbClr val="2A3750"/>
            </a:solidFill>
            <a:prstDash val="solid"/>
          </a:ln>
        </p:spPr>
      </p:sp>
      <p:sp>
        <p:nvSpPr>
          <p:cNvPr id="11" name="Text 9"/>
          <p:cNvSpPr txBox="1"/>
          <p:nvPr/>
        </p:nvSpPr>
        <p:spPr>
          <a:xfrm>
            <a:off x="6583680" y="2834640"/>
            <a:ext cx="187452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Construction permits</a:t>
            </a:r>
            <a:endParaRPr lang="en-US" sz="14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548640" y="3840480"/>
            <a:ext cx="5486400" cy="548640"/>
          </a:xfrm>
          <a:prstGeom prst="rect">
            <a:avLst/>
          </a:prstGeom>
          <a:noFill/>
          <a:ln/>
        </p:spPr>
        <p:txBody>
          <a:bodyPr wrap="square" lIns="0" tIns="0" rIns="0" bIns="0" rtlCol="0" anchor="t"/>
          <a:lstStyle/>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Live app: </a:t>
            </a:r>
            <a:r>
              <a:rPr lang="en-US" sz="1600" b="1" dirty="0">
                <a:solidFill>
                  <a:schemeClr val="accent1"/>
                </a:solidFill>
                <a:latin typeface="Times New Roman" panose="02020603050405020304" pitchFamily="18" charset="0"/>
                <a:cs typeface="Times New Roman" panose="02020603050405020304" pitchFamily="18" charset="0"/>
                <a:hlinkClick r:id="rId3"/>
              </a:rPr>
              <a:t>citypulse-mumbai.streamlit.app</a:t>
            </a: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Code: </a:t>
            </a:r>
            <a:r>
              <a:rPr lang="en-US" sz="1600" b="1" dirty="0">
                <a:solidFill>
                  <a:schemeClr val="accent1"/>
                </a:solidFill>
                <a:latin typeface="Times New Roman" panose="02020603050405020304" pitchFamily="18" charset="0"/>
                <a:cs typeface="Times New Roman" panose="02020603050405020304" pitchFamily="18" charset="0"/>
                <a:hlinkClick r:id="rId4"/>
              </a:rPr>
              <a:t>github.com/RishiBuilds/CityPulse</a:t>
            </a:r>
            <a:endParaRPr lang="en-US" sz="1600" b="1" dirty="0">
              <a:latin typeface="Times New Roman" panose="02020603050405020304" pitchFamily="18" charset="0"/>
              <a:cs typeface="Times New Roman" panose="02020603050405020304" pitchFamily="18" charset="0"/>
            </a:endParaRPr>
          </a:p>
        </p:txBody>
      </p:sp>
      <p:sp>
        <p:nvSpPr>
          <p:cNvPr id="13" name="Text 11"/>
          <p:cNvSpPr txBox="1"/>
          <p:nvPr/>
        </p:nvSpPr>
        <p:spPr>
          <a:xfrm>
            <a:off x="5591907" y="3745523"/>
            <a:ext cx="2743200" cy="365760"/>
          </a:xfrm>
          <a:prstGeom prst="rect">
            <a:avLst/>
          </a:prstGeom>
          <a:noFill/>
          <a:ln/>
        </p:spPr>
        <p:txBody>
          <a:bodyPr wrap="square" lIns="0" tIns="0" rIns="0" bIns="0" rtlCol="0" anchor="t"/>
          <a:lstStyle/>
          <a:p>
            <a:pPr marL="0" indent="0" algn="r">
              <a:buNone/>
            </a:pPr>
            <a:r>
              <a:rPr lang="en-US" sz="2000" b="1" dirty="0">
                <a:solidFill>
                  <a:schemeClr val="bg1"/>
                </a:solidFill>
                <a:latin typeface="Times New Roman" panose="02020603050405020304" pitchFamily="18" charset="0"/>
                <a:ea typeface="+mj-lt" pitchFamily="34" charset="-122"/>
                <a:cs typeface="Times New Roman" panose="02020603050405020304" pitchFamily="18" charset="0"/>
              </a:rPr>
              <a:t>Thank you. Questions?</a:t>
            </a:r>
            <a:endParaRPr lang="en-US" sz="20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5852160" y="4206240"/>
            <a:ext cx="2743200" cy="274320"/>
          </a:xfrm>
          <a:prstGeom prst="rect">
            <a:avLst/>
          </a:prstGeom>
          <a:noFill/>
          <a:ln/>
        </p:spPr>
        <p:txBody>
          <a:bodyPr wrap="square" lIns="0" tIns="0" rIns="0" bIns="0" rtlCol="0" anchor="t"/>
          <a:lstStyle/>
          <a:p>
            <a:pPr marL="0" indent="0" algn="r">
              <a:buNone/>
            </a:pPr>
            <a:r>
              <a:rPr lang="en-US" sz="1600" dirty="0">
                <a:solidFill>
                  <a:schemeClr val="bg2"/>
                </a:solidFill>
                <a:latin typeface="Times New Roman" panose="02020603050405020304" pitchFamily="18" charset="0"/>
                <a:cs typeface="Times New Roman" panose="02020603050405020304" pitchFamily="18" charset="0"/>
              </a:rPr>
              <a:t>Ratnesh · Rishi · Shreya</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ityPulse Night">
  <a:themeElements>
    <a:clrScheme name="CityPulse Night">
      <a:dk1>
        <a:srgbClr val="0B1220"/>
      </a:dk1>
      <a:lt1>
        <a:srgbClr val="F2F6FC"/>
      </a:lt1>
      <a:dk2>
        <a:srgbClr val="131C2E"/>
      </a:dk2>
      <a:lt2>
        <a:srgbClr val="A9B8CF"/>
      </a:lt2>
      <a:accent1>
        <a:srgbClr val="4C8DF6"/>
      </a:accent1>
      <a:accent2>
        <a:srgbClr val="F5B544"/>
      </a:accent2>
      <a:accent3>
        <a:srgbClr val="EF6B6B"/>
      </a:accent3>
      <a:accent4>
        <a:srgbClr val="3DD6A5"/>
      </a:accent4>
      <a:accent5>
        <a:srgbClr val="8B7CF6"/>
      </a:accent5>
      <a:accent6>
        <a:srgbClr val="22C3E6"/>
      </a:accent6>
      <a:hlink>
        <a:srgbClr val="4C8DF6"/>
      </a:hlink>
      <a:folHlink>
        <a:srgbClr val="8B7CF6"/>
      </a:folHlink>
    </a:clrScheme>
    <a:fontScheme name="CityPulse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1620</Words>
  <Application>Microsoft Office PowerPoint</Application>
  <PresentationFormat>On-screen Show (16:9)</PresentationFormat>
  <Paragraphs>133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CityPulse Night</vt:lpstr>
      <vt:lpstr>City Pulse: Mumbai</vt:lpstr>
      <vt:lpstr>Where do we send the teams?</vt:lpstr>
      <vt:lpstr>Open data only, fully reproducible</vt:lpstr>
      <vt:lpstr>A transparent five-part score</vt:lpstr>
      <vt:lpstr>Demo: rank, flag, assign</vt:lpstr>
      <vt:lpstr>Every rank comes with its reasons</vt:lpstr>
      <vt:lpstr>What if the policy changes?</vt:lpstr>
      <vt:lpstr>What the data told us</vt:lpstr>
      <vt:lpstr>Honest validation</vt:lpstr>
      <vt:lpstr>Limits and responsible use</vt:lpstr>
      <vt:lpstr>Limited resources should go where the evidence points, and every ranking should come with its reasons.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CityPulse: Mumbai - HackAMatch 1.0</dc:title>
  <dc:subject>PptxGenJS Presentation</dc:subject>
  <dc:creator>Ratnesh Pathak, Rishi Chaurasiya, Shreya Pandey</dc:creator>
  <cp:lastModifiedBy>LENOVO</cp:lastModifiedBy>
  <cp:revision>5</cp:revision>
  <dcterms:created xsi:type="dcterms:W3CDTF">2026-10-23T06:35:15Z</dcterms:created>
  <dcterms:modified xsi:type="dcterms:W3CDTF">2026-10-23T20:30:41Z</dcterms:modified>
</cp:coreProperties>
</file>